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8288000" cy="10287000"/>
  <p:notesSz cx="6858000" cy="9144000"/>
  <p:embeddedFontLst>
    <p:embeddedFont>
      <p:font typeface="Barlow Condensed Heavy" charset="1" panose="00000A06000000000000"/>
      <p:regular r:id="rId37"/>
    </p:embeddedFont>
    <p:embeddedFont>
      <p:font typeface="Aileron" charset="1" panose="00000500000000000000"/>
      <p:regular r:id="rId38"/>
    </p:embeddedFont>
    <p:embeddedFont>
      <p:font typeface="Akzidenz-Grotesk Heavy" charset="1" panose="02000503050000020004"/>
      <p:regular r:id="rId39"/>
    </p:embeddedFont>
    <p:embeddedFont>
      <p:font typeface="Aileron Bold" charset="1" panose="00000800000000000000"/>
      <p:regular r:id="rId40"/>
    </p:embeddedFont>
    <p:embeddedFont>
      <p:font typeface="Akzidenz-Grotesk Bold" charset="1" panose="02000803050000020004"/>
      <p:regular r:id="rId41"/>
    </p:embeddedFont>
    <p:embeddedFont>
      <p:font typeface="Akzidenz-Grotesk" charset="1" panose="02000503030000020003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2.jpe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20.jpe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3.jpe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3.jpe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2.jpe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20.jpe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20.jpe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2.jpe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jpe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jpe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69396" y="2719229"/>
            <a:ext cx="2544433" cy="2544433"/>
          </a:xfrm>
          <a:custGeom>
            <a:avLst/>
            <a:gdLst/>
            <a:ahLst/>
            <a:cxnLst/>
            <a:rect r="r" b="b" t="t" l="l"/>
            <a:pathLst>
              <a:path h="2544433" w="2544433">
                <a:moveTo>
                  <a:pt x="0" y="0"/>
                </a:moveTo>
                <a:lnTo>
                  <a:pt x="2544432" y="0"/>
                </a:lnTo>
                <a:lnTo>
                  <a:pt x="2544432" y="2544433"/>
                </a:lnTo>
                <a:lnTo>
                  <a:pt x="0" y="25444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098615" y="3307946"/>
            <a:ext cx="11071218" cy="5950354"/>
            <a:chOff x="-1270" y="0"/>
            <a:chExt cx="5373370" cy="2887980"/>
          </a:xfrm>
        </p:grpSpPr>
        <p:sp>
          <p:nvSpPr>
            <p:cNvPr name="Freeform 4" id="4"/>
            <p:cNvSpPr/>
            <p:nvPr/>
          </p:nvSpPr>
          <p:spPr>
            <a:xfrm flipH="true" flipV="false" rot="0">
              <a:off x="0" y="0"/>
              <a:ext cx="5373370" cy="2887980"/>
            </a:xfrm>
            <a:custGeom>
              <a:avLst/>
              <a:gdLst/>
              <a:ahLst/>
              <a:cxnLst/>
              <a:rect r="r" b="b" t="t" l="l"/>
              <a:pathLst>
                <a:path h="2887980" w="5373370">
                  <a:moveTo>
                    <a:pt x="0" y="621030"/>
                  </a:moveTo>
                  <a:cubicBezTo>
                    <a:pt x="0" y="963930"/>
                    <a:pt x="278130" y="1242060"/>
                    <a:pt x="621030" y="1242060"/>
                  </a:cubicBezTo>
                  <a:lnTo>
                    <a:pt x="1744980" y="1242060"/>
                  </a:lnTo>
                  <a:cubicBezTo>
                    <a:pt x="1770380" y="1242060"/>
                    <a:pt x="1790700" y="1263650"/>
                    <a:pt x="1790700" y="1289050"/>
                  </a:cubicBezTo>
                  <a:cubicBezTo>
                    <a:pt x="1790700" y="1380490"/>
                    <a:pt x="1811020" y="1466850"/>
                    <a:pt x="1845310" y="1545590"/>
                  </a:cubicBezTo>
                  <a:cubicBezTo>
                    <a:pt x="1866900" y="1592580"/>
                    <a:pt x="1832610" y="1645920"/>
                    <a:pt x="1780540" y="1645920"/>
                  </a:cubicBezTo>
                  <a:cubicBezTo>
                    <a:pt x="1437640" y="1645920"/>
                    <a:pt x="1159510" y="1924050"/>
                    <a:pt x="1159510" y="2266950"/>
                  </a:cubicBezTo>
                  <a:cubicBezTo>
                    <a:pt x="1159510" y="2609850"/>
                    <a:pt x="1437640" y="2887980"/>
                    <a:pt x="1780540" y="2887980"/>
                  </a:cubicBezTo>
                  <a:lnTo>
                    <a:pt x="4121150" y="2887980"/>
                  </a:lnTo>
                  <a:cubicBezTo>
                    <a:pt x="4464050" y="2887980"/>
                    <a:pt x="4742180" y="2609850"/>
                    <a:pt x="4742180" y="2266950"/>
                  </a:cubicBezTo>
                  <a:cubicBezTo>
                    <a:pt x="4742180" y="2175510"/>
                    <a:pt x="4721860" y="2089150"/>
                    <a:pt x="4687570" y="2010410"/>
                  </a:cubicBezTo>
                  <a:cubicBezTo>
                    <a:pt x="4665980" y="1963420"/>
                    <a:pt x="4700270" y="1910080"/>
                    <a:pt x="4752340" y="1910080"/>
                  </a:cubicBezTo>
                  <a:cubicBezTo>
                    <a:pt x="5095240" y="1910080"/>
                    <a:pt x="5373370" y="1631950"/>
                    <a:pt x="5373370" y="1289050"/>
                  </a:cubicBezTo>
                  <a:cubicBezTo>
                    <a:pt x="5373370" y="946150"/>
                    <a:pt x="5095240" y="668020"/>
                    <a:pt x="4752340" y="668020"/>
                  </a:cubicBezTo>
                  <a:lnTo>
                    <a:pt x="3628390" y="668020"/>
                  </a:lnTo>
                  <a:cubicBezTo>
                    <a:pt x="3602990" y="668020"/>
                    <a:pt x="3582670" y="647700"/>
                    <a:pt x="3582670" y="622300"/>
                  </a:cubicBezTo>
                  <a:lnTo>
                    <a:pt x="3582670" y="621030"/>
                  </a:lnTo>
                  <a:cubicBezTo>
                    <a:pt x="3582670" y="278130"/>
                    <a:pt x="3304540" y="0"/>
                    <a:pt x="2961640" y="0"/>
                  </a:cubicBezTo>
                  <a:lnTo>
                    <a:pt x="622300" y="0"/>
                  </a:lnTo>
                  <a:cubicBezTo>
                    <a:pt x="278130" y="0"/>
                    <a:pt x="0" y="278130"/>
                    <a:pt x="0" y="621030"/>
                  </a:cubicBezTo>
                  <a:close/>
                </a:path>
              </a:pathLst>
            </a:custGeom>
            <a:blipFill>
              <a:blip r:embed="rId4"/>
              <a:stretch>
                <a:fillRect l="0" t="-25821" r="0" b="-13723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136521" y="3307946"/>
            <a:ext cx="2594369" cy="4588246"/>
            <a:chOff x="0" y="0"/>
            <a:chExt cx="683291" cy="12084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83291" cy="1208427"/>
            </a:xfrm>
            <a:custGeom>
              <a:avLst/>
              <a:gdLst/>
              <a:ahLst/>
              <a:cxnLst/>
              <a:rect r="r" b="b" t="t" l="l"/>
              <a:pathLst>
                <a:path h="1208427" w="683291">
                  <a:moveTo>
                    <a:pt x="152190" y="0"/>
                  </a:moveTo>
                  <a:lnTo>
                    <a:pt x="531100" y="0"/>
                  </a:lnTo>
                  <a:cubicBezTo>
                    <a:pt x="571464" y="0"/>
                    <a:pt x="610174" y="16034"/>
                    <a:pt x="638715" y="44576"/>
                  </a:cubicBezTo>
                  <a:cubicBezTo>
                    <a:pt x="667256" y="73117"/>
                    <a:pt x="683291" y="111827"/>
                    <a:pt x="683291" y="152190"/>
                  </a:cubicBezTo>
                  <a:lnTo>
                    <a:pt x="683291" y="1056237"/>
                  </a:lnTo>
                  <a:cubicBezTo>
                    <a:pt x="683291" y="1096600"/>
                    <a:pt x="667256" y="1135310"/>
                    <a:pt x="638715" y="1163852"/>
                  </a:cubicBezTo>
                  <a:cubicBezTo>
                    <a:pt x="610174" y="1192393"/>
                    <a:pt x="571464" y="1208427"/>
                    <a:pt x="531100" y="1208427"/>
                  </a:cubicBezTo>
                  <a:lnTo>
                    <a:pt x="152190" y="1208427"/>
                  </a:lnTo>
                  <a:cubicBezTo>
                    <a:pt x="111827" y="1208427"/>
                    <a:pt x="73117" y="1192393"/>
                    <a:pt x="44576" y="1163852"/>
                  </a:cubicBezTo>
                  <a:cubicBezTo>
                    <a:pt x="16034" y="1135310"/>
                    <a:pt x="0" y="1096600"/>
                    <a:pt x="0" y="1056237"/>
                  </a:cubicBezTo>
                  <a:lnTo>
                    <a:pt x="0" y="152190"/>
                  </a:lnTo>
                  <a:cubicBezTo>
                    <a:pt x="0" y="111827"/>
                    <a:pt x="16034" y="73117"/>
                    <a:pt x="44576" y="44576"/>
                  </a:cubicBezTo>
                  <a:cubicBezTo>
                    <a:pt x="73117" y="16034"/>
                    <a:pt x="111827" y="0"/>
                    <a:pt x="15219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83291" cy="1256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469396" y="1259637"/>
            <a:ext cx="3789904" cy="665701"/>
            <a:chOff x="0" y="0"/>
            <a:chExt cx="998164" cy="1753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8164" cy="175329"/>
            </a:xfrm>
            <a:custGeom>
              <a:avLst/>
              <a:gdLst/>
              <a:ahLst/>
              <a:cxnLst/>
              <a:rect r="r" b="b" t="t" l="l"/>
              <a:pathLst>
                <a:path h="175329" w="998164">
                  <a:moveTo>
                    <a:pt x="87664" y="0"/>
                  </a:moveTo>
                  <a:lnTo>
                    <a:pt x="910500" y="0"/>
                  </a:lnTo>
                  <a:cubicBezTo>
                    <a:pt x="958915" y="0"/>
                    <a:pt x="998164" y="39249"/>
                    <a:pt x="998164" y="87664"/>
                  </a:cubicBezTo>
                  <a:lnTo>
                    <a:pt x="998164" y="87664"/>
                  </a:lnTo>
                  <a:cubicBezTo>
                    <a:pt x="998164" y="110914"/>
                    <a:pt x="988928" y="133212"/>
                    <a:pt x="972488" y="149652"/>
                  </a:cubicBezTo>
                  <a:cubicBezTo>
                    <a:pt x="956048" y="166093"/>
                    <a:pt x="933750" y="175329"/>
                    <a:pt x="910500" y="175329"/>
                  </a:cubicBezTo>
                  <a:lnTo>
                    <a:pt x="87664" y="175329"/>
                  </a:lnTo>
                  <a:cubicBezTo>
                    <a:pt x="64414" y="175329"/>
                    <a:pt x="42117" y="166093"/>
                    <a:pt x="25676" y="149652"/>
                  </a:cubicBezTo>
                  <a:cubicBezTo>
                    <a:pt x="9236" y="133212"/>
                    <a:pt x="0" y="110914"/>
                    <a:pt x="0" y="87664"/>
                  </a:cubicBezTo>
                  <a:lnTo>
                    <a:pt x="0" y="87664"/>
                  </a:lnTo>
                  <a:cubicBezTo>
                    <a:pt x="0" y="64414"/>
                    <a:pt x="9236" y="42117"/>
                    <a:pt x="25676" y="25676"/>
                  </a:cubicBezTo>
                  <a:cubicBezTo>
                    <a:pt x="42117" y="9236"/>
                    <a:pt x="64414" y="0"/>
                    <a:pt x="87664" y="0"/>
                  </a:cubicBezTo>
                  <a:close/>
                </a:path>
              </a:pathLst>
            </a:custGeom>
            <a:solidFill>
              <a:srgbClr val="3A577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998164" cy="222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3731511" y="1434222"/>
            <a:ext cx="305535" cy="302202"/>
          </a:xfrm>
          <a:custGeom>
            <a:avLst/>
            <a:gdLst/>
            <a:ahLst/>
            <a:cxnLst/>
            <a:rect r="r" b="b" t="t" l="l"/>
            <a:pathLst>
              <a:path h="302202" w="305535">
                <a:moveTo>
                  <a:pt x="0" y="0"/>
                </a:moveTo>
                <a:lnTo>
                  <a:pt x="305535" y="0"/>
                </a:lnTo>
                <a:lnTo>
                  <a:pt x="305535" y="302203"/>
                </a:lnTo>
                <a:lnTo>
                  <a:pt x="0" y="3022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-252231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958605" y="3307946"/>
            <a:ext cx="1025128" cy="1025128"/>
          </a:xfrm>
          <a:custGeom>
            <a:avLst/>
            <a:gdLst/>
            <a:ahLst/>
            <a:cxnLst/>
            <a:rect r="r" b="b" t="t" l="l"/>
            <a:pathLst>
              <a:path h="1025128" w="1025128">
                <a:moveTo>
                  <a:pt x="0" y="0"/>
                </a:moveTo>
                <a:lnTo>
                  <a:pt x="1025127" y="0"/>
                </a:lnTo>
                <a:lnTo>
                  <a:pt x="1025127" y="1025127"/>
                </a:lnTo>
                <a:lnTo>
                  <a:pt x="0" y="10251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843805" y="824861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412807" y="3028963"/>
            <a:ext cx="9734623" cy="4844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64"/>
              </a:lnSpc>
            </a:pPr>
            <a:r>
              <a:rPr lang="en-US" sz="12198" b="true">
                <a:solidFill>
                  <a:srgbClr val="0E2F5F"/>
                </a:solidFill>
                <a:latin typeface="Barlow Condensed Heavy"/>
                <a:ea typeface="Barlow Condensed Heavy"/>
                <a:cs typeface="Barlow Condensed Heavy"/>
                <a:sym typeface="Barlow Condensed Heavy"/>
              </a:rPr>
              <a:t>LAB_04: GAMES WITH SEARCH UNCERTAINTY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2769424" y="2436835"/>
            <a:ext cx="806841" cy="564789"/>
          </a:xfrm>
          <a:custGeom>
            <a:avLst/>
            <a:gdLst/>
            <a:ahLst/>
            <a:cxnLst/>
            <a:rect r="r" b="b" t="t" l="l"/>
            <a:pathLst>
              <a:path h="564789" w="806841">
                <a:moveTo>
                  <a:pt x="0" y="0"/>
                </a:moveTo>
                <a:lnTo>
                  <a:pt x="806840" y="0"/>
                </a:lnTo>
                <a:lnTo>
                  <a:pt x="806840" y="564788"/>
                </a:lnTo>
                <a:lnTo>
                  <a:pt x="0" y="5647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4211574" y="1415172"/>
            <a:ext cx="3009626" cy="30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3"/>
              </a:lnSpc>
            </a:pPr>
            <a:r>
              <a:rPr lang="en-US" sz="19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www.reallygreatsite.com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2412807" y="8799767"/>
            <a:ext cx="1483489" cy="458533"/>
          </a:xfrm>
          <a:custGeom>
            <a:avLst/>
            <a:gdLst/>
            <a:ahLst/>
            <a:cxnLst/>
            <a:rect r="r" b="b" t="t" l="l"/>
            <a:pathLst>
              <a:path h="458533" w="1483489">
                <a:moveTo>
                  <a:pt x="0" y="0"/>
                </a:moveTo>
                <a:lnTo>
                  <a:pt x="1483489" y="0"/>
                </a:lnTo>
                <a:lnTo>
                  <a:pt x="1483489" y="458533"/>
                </a:lnTo>
                <a:lnTo>
                  <a:pt x="0" y="45853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34028" y="6733028"/>
            <a:ext cx="5050544" cy="5050544"/>
          </a:xfrm>
          <a:custGeom>
            <a:avLst/>
            <a:gdLst/>
            <a:ahLst/>
            <a:cxnLst/>
            <a:rect r="r" b="b" t="t" l="l"/>
            <a:pathLst>
              <a:path h="5050544" w="5050544">
                <a:moveTo>
                  <a:pt x="0" y="0"/>
                </a:moveTo>
                <a:lnTo>
                  <a:pt x="5050544" y="0"/>
                </a:lnTo>
                <a:lnTo>
                  <a:pt x="5050544" y="5050544"/>
                </a:lnTo>
                <a:lnTo>
                  <a:pt x="0" y="5050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4392170"/>
            <a:ext cx="5650143" cy="5894830"/>
            <a:chOff x="0" y="0"/>
            <a:chExt cx="1488104" cy="15525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88104" cy="1552548"/>
            </a:xfrm>
            <a:custGeom>
              <a:avLst/>
              <a:gdLst/>
              <a:ahLst/>
              <a:cxnLst/>
              <a:rect r="r" b="b" t="t" l="l"/>
              <a:pathLst>
                <a:path h="1552548" w="1488104">
                  <a:moveTo>
                    <a:pt x="0" y="0"/>
                  </a:moveTo>
                  <a:lnTo>
                    <a:pt x="1488104" y="0"/>
                  </a:lnTo>
                  <a:lnTo>
                    <a:pt x="1488104" y="1552548"/>
                  </a:lnTo>
                  <a:lnTo>
                    <a:pt x="0" y="1552548"/>
                  </a:lnTo>
                  <a:close/>
                </a:path>
              </a:pathLst>
            </a:custGeom>
            <a:solidFill>
              <a:srgbClr val="E1ED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488104" cy="160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1689442"/>
            <a:ext cx="5650143" cy="565014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77392">
              <a:off x="-4950" y="-4950"/>
              <a:ext cx="822699" cy="822699"/>
            </a:xfrm>
            <a:custGeom>
              <a:avLst/>
              <a:gdLst/>
              <a:ahLst/>
              <a:cxnLst/>
              <a:rect r="r" b="b" t="t" l="l"/>
              <a:pathLst>
                <a:path h="822699" w="822699">
                  <a:moveTo>
                    <a:pt x="402202" y="5053"/>
                  </a:moveTo>
                  <a:cubicBezTo>
                    <a:pt x="177810" y="10105"/>
                    <a:pt x="0" y="196107"/>
                    <a:pt x="5053" y="420498"/>
                  </a:cubicBezTo>
                  <a:cubicBezTo>
                    <a:pt x="10105" y="644890"/>
                    <a:pt x="196107" y="822700"/>
                    <a:pt x="420498" y="817647"/>
                  </a:cubicBezTo>
                  <a:cubicBezTo>
                    <a:pt x="644890" y="812595"/>
                    <a:pt x="822700" y="626593"/>
                    <a:pt x="817647" y="402202"/>
                  </a:cubicBezTo>
                  <a:cubicBezTo>
                    <a:pt x="812595" y="177810"/>
                    <a:pt x="626593" y="0"/>
                    <a:pt x="402202" y="5053"/>
                  </a:cubicBezTo>
                  <a:close/>
                </a:path>
              </a:pathLst>
            </a:custGeom>
            <a:blipFill>
              <a:blip r:embed="rId4"/>
              <a:stretch>
                <a:fillRect l="-48066" t="-12382" r="-41702" b="-2994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648406" y="1028700"/>
            <a:ext cx="1858734" cy="185873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277754" y="1509529"/>
            <a:ext cx="600038" cy="897076"/>
          </a:xfrm>
          <a:custGeom>
            <a:avLst/>
            <a:gdLst/>
            <a:ahLst/>
            <a:cxnLst/>
            <a:rect r="r" b="b" t="t" l="l"/>
            <a:pathLst>
              <a:path h="897076" w="600038">
                <a:moveTo>
                  <a:pt x="0" y="0"/>
                </a:moveTo>
                <a:lnTo>
                  <a:pt x="600038" y="0"/>
                </a:lnTo>
                <a:lnTo>
                  <a:pt x="600038" y="897076"/>
                </a:lnTo>
                <a:lnTo>
                  <a:pt x="0" y="8970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558327" y="7453986"/>
            <a:ext cx="2763919" cy="882511"/>
          </a:xfrm>
          <a:custGeom>
            <a:avLst/>
            <a:gdLst/>
            <a:ahLst/>
            <a:cxnLst/>
            <a:rect r="r" b="b" t="t" l="l"/>
            <a:pathLst>
              <a:path h="882511" w="2763919">
                <a:moveTo>
                  <a:pt x="0" y="0"/>
                </a:moveTo>
                <a:lnTo>
                  <a:pt x="2763918" y="0"/>
                </a:lnTo>
                <a:lnTo>
                  <a:pt x="2763918" y="882511"/>
                </a:lnTo>
                <a:lnTo>
                  <a:pt x="0" y="8825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731524" y="7665975"/>
            <a:ext cx="1483489" cy="458533"/>
          </a:xfrm>
          <a:custGeom>
            <a:avLst/>
            <a:gdLst/>
            <a:ahLst/>
            <a:cxnLst/>
            <a:rect r="r" b="b" t="t" l="l"/>
            <a:pathLst>
              <a:path h="458533" w="1483489">
                <a:moveTo>
                  <a:pt x="0" y="0"/>
                </a:moveTo>
                <a:lnTo>
                  <a:pt x="1483490" y="0"/>
                </a:lnTo>
                <a:lnTo>
                  <a:pt x="1483490" y="458533"/>
                </a:lnTo>
                <a:lnTo>
                  <a:pt x="0" y="4585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529751" y="3555682"/>
            <a:ext cx="7883851" cy="300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19"/>
              </a:lnSpc>
            </a:pPr>
            <a:r>
              <a:rPr lang="en-US" sz="5999" b="tru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Adversarial Search: Playing Connect 4</a:t>
            </a:r>
          </a:p>
          <a:p>
            <a:pPr algn="l">
              <a:lnSpc>
                <a:spcPts val="7619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6264511" y="5348601"/>
            <a:ext cx="1025128" cy="1025128"/>
          </a:xfrm>
          <a:custGeom>
            <a:avLst/>
            <a:gdLst/>
            <a:ahLst/>
            <a:cxnLst/>
            <a:rect r="r" b="b" t="t" l="l"/>
            <a:pathLst>
              <a:path h="1025128" w="1025128">
                <a:moveTo>
                  <a:pt x="0" y="0"/>
                </a:moveTo>
                <a:lnTo>
                  <a:pt x="1025128" y="0"/>
                </a:lnTo>
                <a:lnTo>
                  <a:pt x="1025128" y="1025127"/>
                </a:lnTo>
                <a:lnTo>
                  <a:pt x="0" y="102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79142" y="770143"/>
            <a:ext cx="4829892" cy="5894830"/>
            <a:chOff x="0" y="0"/>
            <a:chExt cx="1272070" cy="1552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2070" cy="1552548"/>
            </a:xfrm>
            <a:custGeom>
              <a:avLst/>
              <a:gdLst/>
              <a:ahLst/>
              <a:cxnLst/>
              <a:rect r="r" b="b" t="t" l="l"/>
              <a:pathLst>
                <a:path h="1552548" w="1272070">
                  <a:moveTo>
                    <a:pt x="94572" y="0"/>
                  </a:moveTo>
                  <a:lnTo>
                    <a:pt x="1177498" y="0"/>
                  </a:lnTo>
                  <a:cubicBezTo>
                    <a:pt x="1229729" y="0"/>
                    <a:pt x="1272070" y="42341"/>
                    <a:pt x="1272070" y="94572"/>
                  </a:cubicBezTo>
                  <a:lnTo>
                    <a:pt x="1272070" y="1457976"/>
                  </a:lnTo>
                  <a:cubicBezTo>
                    <a:pt x="1272070" y="1483058"/>
                    <a:pt x="1262106" y="1507113"/>
                    <a:pt x="1244371" y="1524848"/>
                  </a:cubicBezTo>
                  <a:cubicBezTo>
                    <a:pt x="1226635" y="1542584"/>
                    <a:pt x="1202580" y="1552548"/>
                    <a:pt x="1177498" y="1552548"/>
                  </a:cubicBezTo>
                  <a:lnTo>
                    <a:pt x="94572" y="1552548"/>
                  </a:lnTo>
                  <a:cubicBezTo>
                    <a:pt x="69490" y="1552548"/>
                    <a:pt x="45435" y="1542584"/>
                    <a:pt x="27700" y="1524848"/>
                  </a:cubicBezTo>
                  <a:cubicBezTo>
                    <a:pt x="9964" y="1507113"/>
                    <a:pt x="0" y="1483058"/>
                    <a:pt x="0" y="1457976"/>
                  </a:cubicBezTo>
                  <a:lnTo>
                    <a:pt x="0" y="94572"/>
                  </a:lnTo>
                  <a:cubicBezTo>
                    <a:pt x="0" y="69490"/>
                    <a:pt x="9964" y="45435"/>
                    <a:pt x="27700" y="27700"/>
                  </a:cubicBezTo>
                  <a:cubicBezTo>
                    <a:pt x="45435" y="9964"/>
                    <a:pt x="69490" y="0"/>
                    <a:pt x="94572" y="0"/>
                  </a:cubicBezTo>
                  <a:close/>
                </a:path>
              </a:pathLst>
            </a:custGeom>
            <a:solidFill>
              <a:srgbClr val="E1EDF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272070" cy="160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222693" y="-984912"/>
            <a:ext cx="8730068" cy="3510110"/>
            <a:chOff x="0" y="0"/>
            <a:chExt cx="1352516" cy="5438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52516" cy="543808"/>
            </a:xfrm>
            <a:custGeom>
              <a:avLst/>
              <a:gdLst/>
              <a:ahLst/>
              <a:cxnLst/>
              <a:rect r="r" b="b" t="t" l="l"/>
              <a:pathLst>
                <a:path h="543808" w="1352516">
                  <a:moveTo>
                    <a:pt x="14189" y="0"/>
                  </a:moveTo>
                  <a:lnTo>
                    <a:pt x="1338327" y="0"/>
                  </a:lnTo>
                  <a:cubicBezTo>
                    <a:pt x="1346163" y="0"/>
                    <a:pt x="1352516" y="6353"/>
                    <a:pt x="1352516" y="14189"/>
                  </a:cubicBezTo>
                  <a:lnTo>
                    <a:pt x="1352516" y="529619"/>
                  </a:lnTo>
                  <a:cubicBezTo>
                    <a:pt x="1352516" y="537455"/>
                    <a:pt x="1346163" y="543808"/>
                    <a:pt x="1338327" y="543808"/>
                  </a:cubicBezTo>
                  <a:lnTo>
                    <a:pt x="14189" y="543808"/>
                  </a:lnTo>
                  <a:cubicBezTo>
                    <a:pt x="6353" y="543808"/>
                    <a:pt x="0" y="537455"/>
                    <a:pt x="0" y="529619"/>
                  </a:cubicBezTo>
                  <a:lnTo>
                    <a:pt x="0" y="14189"/>
                  </a:lnTo>
                  <a:cubicBezTo>
                    <a:pt x="0" y="6353"/>
                    <a:pt x="6353" y="0"/>
                    <a:pt x="14189" y="0"/>
                  </a:cubicBezTo>
                  <a:close/>
                </a:path>
              </a:pathLst>
            </a:custGeom>
            <a:blipFill>
              <a:blip r:embed="rId2"/>
              <a:stretch>
                <a:fillRect l="-3932" t="-47325" r="-12690" b="-47011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4848550" y="1944578"/>
            <a:ext cx="1226460" cy="379088"/>
          </a:xfrm>
          <a:custGeom>
            <a:avLst/>
            <a:gdLst/>
            <a:ahLst/>
            <a:cxnLst/>
            <a:rect r="r" b="b" t="t" l="l"/>
            <a:pathLst>
              <a:path h="379088" w="1226460">
                <a:moveTo>
                  <a:pt x="0" y="0"/>
                </a:moveTo>
                <a:lnTo>
                  <a:pt x="1226460" y="0"/>
                </a:lnTo>
                <a:lnTo>
                  <a:pt x="1226460" y="379087"/>
                </a:lnTo>
                <a:lnTo>
                  <a:pt x="0" y="3790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79142" y="8935522"/>
            <a:ext cx="960315" cy="960315"/>
          </a:xfrm>
          <a:custGeom>
            <a:avLst/>
            <a:gdLst/>
            <a:ahLst/>
            <a:cxnLst/>
            <a:rect r="r" b="b" t="t" l="l"/>
            <a:pathLst>
              <a:path h="960315" w="960315">
                <a:moveTo>
                  <a:pt x="0" y="0"/>
                </a:moveTo>
                <a:lnTo>
                  <a:pt x="960316" y="0"/>
                </a:lnTo>
                <a:lnTo>
                  <a:pt x="960316" y="960315"/>
                </a:lnTo>
                <a:lnTo>
                  <a:pt x="0" y="9603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237540" y="2782372"/>
          <a:ext cx="15350187" cy="6153150"/>
        </p:xfrm>
        <a:graphic>
          <a:graphicData uri="http://schemas.openxmlformats.org/drawingml/2006/table">
            <a:tbl>
              <a:tblPr/>
              <a:tblGrid>
                <a:gridCol w="2333681"/>
                <a:gridCol w="9614348"/>
                <a:gridCol w="3402159"/>
              </a:tblGrid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Thành phần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Mô tả ngắn gọn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Hàm cần có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Initial State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Bàn cờ trống (6x7) hoặc trạng thái bắt đầu của game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empty_board()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Actions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Các cột còn trống để người chơi thả quân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actions(state)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Transition 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Mô phỏng việc người chơi chọn cột và quân rơi xuống hàng thấp nhất còn trống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result(state, player, action)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Goal State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Kiểm tra xem có người thắng (4 liên tiếp hàng/cột/chéo) hoặc hòa (bàn đầy)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terminal(state)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Utility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Trả về giá trị +1 (thắng), -1 (thua), 0 (hòa)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utility(state, player)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1028700" y="904875"/>
            <a:ext cx="11002566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5"/>
              </a:lnSpc>
            </a:pPr>
            <a:r>
              <a:rPr lang="en-US" sz="4500" b="tru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Task 1 – Defining the Search Problem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996" y="1647960"/>
            <a:ext cx="18288000" cy="7029242"/>
            <a:chOff x="0" y="0"/>
            <a:chExt cx="4816593" cy="18513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851323"/>
            </a:xfrm>
            <a:custGeom>
              <a:avLst/>
              <a:gdLst/>
              <a:ahLst/>
              <a:cxnLst/>
              <a:rect r="r" b="b" t="t" l="l"/>
              <a:pathLst>
                <a:path h="185132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851323"/>
                  </a:lnTo>
                  <a:lnTo>
                    <a:pt x="0" y="1851323"/>
                  </a:lnTo>
                  <a:close/>
                </a:path>
              </a:pathLst>
            </a:custGeom>
            <a:solidFill>
              <a:srgbClr val="E1EDF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8989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747747" y="354703"/>
            <a:ext cx="2586515" cy="258651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6666" t="0" r="-1666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978633" y="1946571"/>
            <a:ext cx="12330734" cy="7848600"/>
            <a:chOff x="0" y="0"/>
            <a:chExt cx="3247601" cy="20671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47601" cy="2067121"/>
            </a:xfrm>
            <a:custGeom>
              <a:avLst/>
              <a:gdLst/>
              <a:ahLst/>
              <a:cxnLst/>
              <a:rect r="r" b="b" t="t" l="l"/>
              <a:pathLst>
                <a:path h="2067121" w="3247601">
                  <a:moveTo>
                    <a:pt x="32021" y="0"/>
                  </a:moveTo>
                  <a:lnTo>
                    <a:pt x="3215580" y="0"/>
                  </a:lnTo>
                  <a:cubicBezTo>
                    <a:pt x="3224073" y="0"/>
                    <a:pt x="3232217" y="3374"/>
                    <a:pt x="3238222" y="9379"/>
                  </a:cubicBezTo>
                  <a:cubicBezTo>
                    <a:pt x="3244227" y="15384"/>
                    <a:pt x="3247601" y="23528"/>
                    <a:pt x="3247601" y="32021"/>
                  </a:cubicBezTo>
                  <a:lnTo>
                    <a:pt x="3247601" y="2035100"/>
                  </a:lnTo>
                  <a:cubicBezTo>
                    <a:pt x="3247601" y="2043593"/>
                    <a:pt x="3244227" y="2051737"/>
                    <a:pt x="3238222" y="2057742"/>
                  </a:cubicBezTo>
                  <a:cubicBezTo>
                    <a:pt x="3232217" y="2063747"/>
                    <a:pt x="3224073" y="2067121"/>
                    <a:pt x="3215580" y="2067121"/>
                  </a:cubicBezTo>
                  <a:lnTo>
                    <a:pt x="32021" y="2067121"/>
                  </a:lnTo>
                  <a:cubicBezTo>
                    <a:pt x="23528" y="2067121"/>
                    <a:pt x="15384" y="2063747"/>
                    <a:pt x="9379" y="2057742"/>
                  </a:cubicBezTo>
                  <a:cubicBezTo>
                    <a:pt x="3374" y="2051737"/>
                    <a:pt x="0" y="2043593"/>
                    <a:pt x="0" y="2035100"/>
                  </a:cubicBezTo>
                  <a:lnTo>
                    <a:pt x="0" y="32021"/>
                  </a:lnTo>
                  <a:cubicBezTo>
                    <a:pt x="0" y="23528"/>
                    <a:pt x="3374" y="15384"/>
                    <a:pt x="9379" y="9379"/>
                  </a:cubicBezTo>
                  <a:cubicBezTo>
                    <a:pt x="15384" y="3374"/>
                    <a:pt x="23528" y="0"/>
                    <a:pt x="32021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247601" cy="2124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40"/>
                </a:lnSpc>
              </a:pPr>
            </a:p>
            <a:p>
              <a:pPr algn="l">
                <a:lnSpc>
                  <a:spcPts val="3640"/>
                </a:lnSpc>
              </a:pPr>
              <a:r>
                <a:rPr lang="en-US" sz="2600" b="true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State Space Estimation</a:t>
              </a:r>
            </a:p>
            <a:p>
              <a:pPr algn="l" marL="561353" indent="-280677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Bàn cờ có 6 x 7 = 42 ô.</a:t>
              </a:r>
            </a:p>
            <a:p>
              <a:pPr algn="l" marL="561353" indent="-280677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Mỗi ô có 3 trạng thái: {0: trống, 1: người chơi 1, -1: người chơi 2}.</a:t>
              </a:r>
            </a:p>
            <a:p>
              <a:pPr algn="l" marL="561353" indent="-280677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Tổng số trạng thái khả dĩ (ước lượng):</a:t>
              </a:r>
            </a:p>
            <a:p>
              <a:pPr algn="l" marL="561353" indent="-280677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3^42≈1.09×10^20</a:t>
              </a:r>
            </a:p>
            <a:p>
              <a:pPr algn="l" marL="561353" indent="-280677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Tuy nhiên, nhiều trạng thái là không hợp lệ (do quân phải rơi từ trên xuống đáy).</a:t>
              </a:r>
            </a:p>
            <a:p>
              <a:pPr algn="l">
                <a:lnSpc>
                  <a:spcPts val="3640"/>
                </a:lnSpc>
              </a:pPr>
              <a:r>
                <a:rPr lang="en-US" sz="2600" b="true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Game Tree Size (Minimax)</a:t>
              </a:r>
            </a:p>
            <a:p>
              <a:pPr algn="l" marL="561353" indent="-280677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Hệ số phân nhánh trung bình ≈ 7 (7 cột có thể chọn).</a:t>
              </a:r>
            </a:p>
            <a:p>
              <a:pPr algn="l" marL="561353" indent="-280677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Nếu chơi hết 42 lượt:</a:t>
              </a:r>
            </a:p>
            <a:p>
              <a:pPr algn="l" marL="561353" indent="-280677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7^42≈3.12×10^35</a:t>
              </a:r>
            </a:p>
            <a:p>
              <a:pPr algn="l" marL="561353" indent="-280677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Thực tế nhỏ hơn do:</a:t>
              </a:r>
            </a:p>
            <a:p>
              <a:pPr algn="l" marL="1122707" indent="-374236" lvl="2">
                <a:lnSpc>
                  <a:spcPts val="3640"/>
                </a:lnSpc>
                <a:buFont typeface="Arial"/>
                <a:buChar char="⚬"/>
              </a:pPr>
              <a:r>
                <a:rPr lang="en-US" sz="26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Ván kết thúc sớm khi có người thắng.</a:t>
              </a:r>
            </a:p>
            <a:p>
              <a:pPr algn="l" marL="1122707" indent="-374236" lvl="2">
                <a:lnSpc>
                  <a:spcPts val="3640"/>
                </a:lnSpc>
                <a:buFont typeface="Arial"/>
                <a:buChar char="⚬"/>
              </a:pPr>
              <a:r>
                <a:rPr lang="en-US" sz="26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Một số cột đầy không thể chọn.</a:t>
              </a:r>
            </a:p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⇒ Không thể duyệt toàn bộ cây, cần cắt tỉa (Alpha-Beta Pruning) và hàm heuristic.</a:t>
              </a:r>
            </a:p>
            <a:p>
              <a:pPr algn="l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94817" y="2782372"/>
            <a:ext cx="3353620" cy="5894830"/>
            <a:chOff x="0" y="0"/>
            <a:chExt cx="883258" cy="1552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3258" cy="1552548"/>
            </a:xfrm>
            <a:custGeom>
              <a:avLst/>
              <a:gdLst/>
              <a:ahLst/>
              <a:cxnLst/>
              <a:rect r="r" b="b" t="t" l="l"/>
              <a:pathLst>
                <a:path h="1552548" w="883258">
                  <a:moveTo>
                    <a:pt x="136203" y="0"/>
                  </a:moveTo>
                  <a:lnTo>
                    <a:pt x="747055" y="0"/>
                  </a:lnTo>
                  <a:cubicBezTo>
                    <a:pt x="822278" y="0"/>
                    <a:pt x="883258" y="60980"/>
                    <a:pt x="883258" y="136203"/>
                  </a:cubicBezTo>
                  <a:lnTo>
                    <a:pt x="883258" y="1416345"/>
                  </a:lnTo>
                  <a:cubicBezTo>
                    <a:pt x="883258" y="1452468"/>
                    <a:pt x="868908" y="1487112"/>
                    <a:pt x="843365" y="1512655"/>
                  </a:cubicBezTo>
                  <a:cubicBezTo>
                    <a:pt x="817822" y="1538198"/>
                    <a:pt x="783178" y="1552548"/>
                    <a:pt x="747055" y="1552548"/>
                  </a:cubicBezTo>
                  <a:lnTo>
                    <a:pt x="136203" y="1552548"/>
                  </a:lnTo>
                  <a:cubicBezTo>
                    <a:pt x="100080" y="1552548"/>
                    <a:pt x="65436" y="1538198"/>
                    <a:pt x="39893" y="1512655"/>
                  </a:cubicBezTo>
                  <a:cubicBezTo>
                    <a:pt x="14350" y="1487112"/>
                    <a:pt x="0" y="1452468"/>
                    <a:pt x="0" y="1416345"/>
                  </a:cubicBezTo>
                  <a:lnTo>
                    <a:pt x="0" y="136203"/>
                  </a:lnTo>
                  <a:cubicBezTo>
                    <a:pt x="0" y="100080"/>
                    <a:pt x="14350" y="65436"/>
                    <a:pt x="39893" y="39893"/>
                  </a:cubicBezTo>
                  <a:cubicBezTo>
                    <a:pt x="65436" y="14350"/>
                    <a:pt x="100080" y="0"/>
                    <a:pt x="136203" y="0"/>
                  </a:cubicBezTo>
                  <a:close/>
                </a:path>
              </a:pathLst>
            </a:custGeom>
            <a:solidFill>
              <a:srgbClr val="E1ED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83258" cy="160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31036" y="876300"/>
            <a:ext cx="15728264" cy="1782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603"/>
              </a:lnSpc>
              <a:spcBef>
                <a:spcPct val="0"/>
              </a:spcBef>
            </a:pPr>
            <a:r>
              <a:rPr lang="en-US" b="true" sz="5199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T</a:t>
            </a:r>
            <a:r>
              <a:rPr lang="en-US" b="true" sz="5199" strike="noStrike" u="non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ask 2: Game Environment and Random Agent</a:t>
            </a:r>
          </a:p>
          <a:p>
            <a:pPr algn="r" marL="0" indent="0" lvl="0">
              <a:lnSpc>
                <a:spcPts val="6603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044420" y="-2663168"/>
            <a:ext cx="3691868" cy="3691868"/>
          </a:xfrm>
          <a:custGeom>
            <a:avLst/>
            <a:gdLst/>
            <a:ahLst/>
            <a:cxnLst/>
            <a:rect r="r" b="b" t="t" l="l"/>
            <a:pathLst>
              <a:path h="3691868" w="3691868">
                <a:moveTo>
                  <a:pt x="0" y="0"/>
                </a:moveTo>
                <a:lnTo>
                  <a:pt x="3691867" y="0"/>
                </a:lnTo>
                <a:lnTo>
                  <a:pt x="3691867" y="3691868"/>
                </a:lnTo>
                <a:lnTo>
                  <a:pt x="0" y="3691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5065" y="381223"/>
            <a:ext cx="647477" cy="647477"/>
          </a:xfrm>
          <a:custGeom>
            <a:avLst/>
            <a:gdLst/>
            <a:ahLst/>
            <a:cxnLst/>
            <a:rect r="r" b="b" t="t" l="l"/>
            <a:pathLst>
              <a:path h="647477" w="647477">
                <a:moveTo>
                  <a:pt x="0" y="0"/>
                </a:moveTo>
                <a:lnTo>
                  <a:pt x="647476" y="0"/>
                </a:lnTo>
                <a:lnTo>
                  <a:pt x="647476" y="647477"/>
                </a:lnTo>
                <a:lnTo>
                  <a:pt x="0" y="6474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9395168" y="2782372"/>
          <a:ext cx="7315200" cy="6677025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10250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Hàm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Mục đích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0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actions(state)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Trả về danh sách cột còn trống.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0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result(state, player, action)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Cập nhật trạng thái sau khi thả quân.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0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check_winner(state, player)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Kiểm tra 4 quân liên tiếp theo hàng, cột, hoặc chéo.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0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terminal(state)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Kết thúc khi có người thắng hoặc bàn đầy.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0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utility(state)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+1: Player 1 thắng, -1: Player 2 thắng, 0: Hòa.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4044420" y="2744272"/>
            <a:ext cx="13214880" cy="2325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Mô</a:t>
            </a:r>
            <a:r>
              <a:rPr lang="en-US" b="true" sz="2200" strike="noStrike" u="non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i trường trò chơi</a:t>
            </a:r>
          </a:p>
          <a:p>
            <a:pPr algn="just" marL="474996" indent="-237498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trike="noStrike" u="none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Bàn cờ: numpy array kích thước 6x7</a:t>
            </a:r>
          </a:p>
          <a:p>
            <a:pPr algn="just" marL="949991" indent="-316664" lvl="2">
              <a:lnSpc>
                <a:spcPts val="3080"/>
              </a:lnSpc>
              <a:spcBef>
                <a:spcPct val="0"/>
              </a:spcBef>
              <a:buFont typeface="Arial"/>
              <a:buChar char="⚬"/>
            </a:pPr>
            <a:r>
              <a:rPr lang="en-US" sz="2200" strike="noStrike" u="none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0: ô trống</a:t>
            </a:r>
          </a:p>
          <a:p>
            <a:pPr algn="just" marL="949991" indent="-316664" lvl="2">
              <a:lnSpc>
                <a:spcPts val="3080"/>
              </a:lnSpc>
              <a:spcBef>
                <a:spcPct val="0"/>
              </a:spcBef>
              <a:buFont typeface="Arial"/>
              <a:buChar char="⚬"/>
            </a:pPr>
            <a:r>
              <a:rPr lang="en-US" sz="2200" strike="noStrike" u="none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1: người chơi đỏ</a:t>
            </a:r>
          </a:p>
          <a:p>
            <a:pPr algn="just" marL="949991" indent="-316664" lvl="2">
              <a:lnSpc>
                <a:spcPts val="3080"/>
              </a:lnSpc>
              <a:spcBef>
                <a:spcPct val="0"/>
              </a:spcBef>
              <a:buFont typeface="Arial"/>
              <a:buChar char="⚬"/>
            </a:pPr>
            <a:r>
              <a:rPr lang="en-US" sz="2200" strike="noStrike" u="none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-1: người chơi vàng</a:t>
            </a:r>
          </a:p>
          <a:p>
            <a:pPr algn="just">
              <a:lnSpc>
                <a:spcPts val="3080"/>
              </a:lnSpc>
              <a:spcBef>
                <a:spcPct val="0"/>
              </a:spcBef>
            </a:pPr>
            <a:r>
              <a:rPr lang="en-US" sz="2200" strike="noStrike" u="none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Các hàm chính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57275" y="6071698"/>
            <a:ext cx="5650143" cy="3676462"/>
            <a:chOff x="0" y="0"/>
            <a:chExt cx="1488104" cy="9682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88104" cy="968286"/>
            </a:xfrm>
            <a:custGeom>
              <a:avLst/>
              <a:gdLst/>
              <a:ahLst/>
              <a:cxnLst/>
              <a:rect r="r" b="b" t="t" l="l"/>
              <a:pathLst>
                <a:path h="968286" w="1488104">
                  <a:moveTo>
                    <a:pt x="0" y="0"/>
                  </a:moveTo>
                  <a:lnTo>
                    <a:pt x="1488104" y="0"/>
                  </a:lnTo>
                  <a:lnTo>
                    <a:pt x="1488104" y="968286"/>
                  </a:lnTo>
                  <a:lnTo>
                    <a:pt x="0" y="968286"/>
                  </a:lnTo>
                  <a:close/>
                </a:path>
              </a:pathLst>
            </a:custGeom>
            <a:solidFill>
              <a:srgbClr val="E1EDF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88104" cy="1015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1023" y="6071698"/>
            <a:ext cx="3676462" cy="367646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5046" t="0" r="-37978" b="-8615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2367814" y="-1205189"/>
            <a:ext cx="3691868" cy="3691868"/>
          </a:xfrm>
          <a:custGeom>
            <a:avLst/>
            <a:gdLst/>
            <a:ahLst/>
            <a:cxnLst/>
            <a:rect r="r" b="b" t="t" l="l"/>
            <a:pathLst>
              <a:path h="3691868" w="3691868">
                <a:moveTo>
                  <a:pt x="0" y="0"/>
                </a:moveTo>
                <a:lnTo>
                  <a:pt x="3691867" y="0"/>
                </a:lnTo>
                <a:lnTo>
                  <a:pt x="3691867" y="3691868"/>
                </a:lnTo>
                <a:lnTo>
                  <a:pt x="0" y="36918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4384203" y="0"/>
            <a:ext cx="3903797" cy="10287000"/>
            <a:chOff x="0" y="0"/>
            <a:chExt cx="604800" cy="15937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4800" cy="1593725"/>
            </a:xfrm>
            <a:custGeom>
              <a:avLst/>
              <a:gdLst/>
              <a:ahLst/>
              <a:cxnLst/>
              <a:rect r="r" b="b" t="t" l="l"/>
              <a:pathLst>
                <a:path h="1593725" w="604800">
                  <a:moveTo>
                    <a:pt x="0" y="0"/>
                  </a:moveTo>
                  <a:lnTo>
                    <a:pt x="604800" y="0"/>
                  </a:lnTo>
                  <a:lnTo>
                    <a:pt x="60480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5"/>
              <a:stretch>
                <a:fillRect l="-336648" t="0" r="-5821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-672918" y="7741887"/>
            <a:ext cx="1226460" cy="379088"/>
          </a:xfrm>
          <a:custGeom>
            <a:avLst/>
            <a:gdLst/>
            <a:ahLst/>
            <a:cxnLst/>
            <a:rect r="r" b="b" t="t" l="l"/>
            <a:pathLst>
              <a:path h="379088" w="1226460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574039" y="1028700"/>
            <a:ext cx="1226460" cy="379088"/>
          </a:xfrm>
          <a:custGeom>
            <a:avLst/>
            <a:gdLst/>
            <a:ahLst/>
            <a:cxnLst/>
            <a:rect r="r" b="b" t="t" l="l"/>
            <a:pathLst>
              <a:path h="379088" w="1226460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6150966" y="3477913"/>
          <a:ext cx="7315200" cy="41148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Kết quả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Số ván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Player 1 thắng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563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Player 2 thắng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432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Hòa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3" id="13"/>
          <p:cNvSpPr txBox="true"/>
          <p:nvPr/>
        </p:nvSpPr>
        <p:spPr>
          <a:xfrm rot="0">
            <a:off x="1028700" y="895350"/>
            <a:ext cx="6654579" cy="168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50"/>
              </a:lnSpc>
              <a:spcBef>
                <a:spcPct val="0"/>
              </a:spcBef>
            </a:pPr>
            <a:r>
              <a:rPr lang="en-US" b="true" sz="5000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R</a:t>
            </a:r>
            <a:r>
              <a:rPr lang="en-US" b="true" sz="5000" strike="noStrike" u="non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andom Agent &amp; Experiment Results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029604"/>
            <a:ext cx="5580403" cy="37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Kế</a:t>
            </a:r>
            <a:r>
              <a:rPr lang="en-US" sz="2200" strike="noStrike" u="none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t quả 1000 ván đấu (Random vs Random)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50966" y="7630179"/>
            <a:ext cx="7662849" cy="1544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Nhận xét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Kết quả gần ngẫu nhiên, đúng với kỳ vọng.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Player 1 có lợi thế vì luôn đi trước → tỷ lệ thắng cao hơn một chút.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7349"/>
            <a:ext cx="3176441" cy="10287000"/>
            <a:chOff x="0" y="0"/>
            <a:chExt cx="492114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2114" cy="1593725"/>
            </a:xfrm>
            <a:custGeom>
              <a:avLst/>
              <a:gdLst/>
              <a:ahLst/>
              <a:cxnLst/>
              <a:rect r="r" b="b" t="t" l="l"/>
              <a:pathLst>
                <a:path h="1593725" w="492114">
                  <a:moveTo>
                    <a:pt x="0" y="0"/>
                  </a:moveTo>
                  <a:lnTo>
                    <a:pt x="492114" y="0"/>
                  </a:lnTo>
                  <a:lnTo>
                    <a:pt x="49211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508174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243241" y="-1845934"/>
            <a:ext cx="3691868" cy="3691868"/>
          </a:xfrm>
          <a:custGeom>
            <a:avLst/>
            <a:gdLst/>
            <a:ahLst/>
            <a:cxnLst/>
            <a:rect r="r" b="b" t="t" l="l"/>
            <a:pathLst>
              <a:path h="3691868" w="3691868">
                <a:moveTo>
                  <a:pt x="0" y="0"/>
                </a:moveTo>
                <a:lnTo>
                  <a:pt x="3691868" y="0"/>
                </a:lnTo>
                <a:lnTo>
                  <a:pt x="3691868" y="3691868"/>
                </a:lnTo>
                <a:lnTo>
                  <a:pt x="0" y="36918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6099489" y="5509617"/>
          <a:ext cx="8675652" cy="4114800"/>
        </p:xfrm>
        <a:graphic>
          <a:graphicData uri="http://schemas.openxmlformats.org/drawingml/2006/table">
            <a:tbl>
              <a:tblPr/>
              <a:tblGrid>
                <a:gridCol w="3332691"/>
                <a:gridCol w="5342960"/>
              </a:tblGrid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Hàm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Chức năng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max_value() / min_value()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Tính giá trị tốt nhất cho người chơi hiện tại.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minimax_agent()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Trả về hành động tối ưu.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terminal() / utility()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Kiểm tra kết thúc và đánh giá kết quả.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7935109" y="876300"/>
            <a:ext cx="9324191" cy="2620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603"/>
              </a:lnSpc>
              <a:spcBef>
                <a:spcPct val="0"/>
              </a:spcBef>
            </a:pPr>
            <a:r>
              <a:rPr lang="en-US" b="true" sz="5199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T</a:t>
            </a:r>
            <a:r>
              <a:rPr lang="en-US" b="true" sz="5199" strike="noStrike" u="non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ask 3: Minimax Search with Alpha-Beta Pruning</a:t>
            </a:r>
          </a:p>
          <a:p>
            <a:pPr algn="r" marL="0" indent="0" lvl="0">
              <a:lnSpc>
                <a:spcPts val="6603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243241" y="2482025"/>
            <a:ext cx="12388148" cy="266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13"/>
              </a:lnSpc>
            </a:pPr>
            <a:r>
              <a:rPr lang="en-US" sz="300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1. Mục tiêu</a:t>
            </a:r>
          </a:p>
          <a:p>
            <a:pPr algn="just" marL="649808" indent="-324904" lvl="1">
              <a:lnSpc>
                <a:spcPts val="4213"/>
              </a:lnSpc>
              <a:buFont typeface="Arial"/>
              <a:buChar char="•"/>
            </a:pPr>
            <a:r>
              <a:rPr lang="en-US" sz="300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Xây dựng agent Minimax giúp chọn nước đi tối ưu.</a:t>
            </a:r>
          </a:p>
          <a:p>
            <a:pPr algn="just" marL="649808" indent="-324904" lvl="1">
              <a:lnSpc>
                <a:spcPts val="4213"/>
              </a:lnSpc>
              <a:buFont typeface="Arial"/>
              <a:buChar char="•"/>
            </a:pPr>
            <a:r>
              <a:rPr lang="en-US" sz="300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Cải thiện bằng Alpha–Beta pruning để giảm số nút duyệt.</a:t>
            </a:r>
          </a:p>
          <a:p>
            <a:pPr algn="just" marL="649808" indent="-324904" lvl="1">
              <a:lnSpc>
                <a:spcPts val="4213"/>
              </a:lnSpc>
              <a:buFont typeface="Arial"/>
              <a:buChar char="•"/>
            </a:pPr>
            <a:r>
              <a:rPr lang="en-US" sz="300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Thử nghiệm trên các bàn cờ kích thước nhỏ (4×4).</a:t>
            </a:r>
          </a:p>
          <a:p>
            <a:pPr algn="just">
              <a:lnSpc>
                <a:spcPts val="4213"/>
              </a:lnSpc>
            </a:pPr>
            <a:r>
              <a:rPr lang="en-US" sz="300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2. Cấu trúc hàm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7349"/>
            <a:ext cx="3176441" cy="10287000"/>
            <a:chOff x="0" y="0"/>
            <a:chExt cx="492114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2114" cy="1593725"/>
            </a:xfrm>
            <a:custGeom>
              <a:avLst/>
              <a:gdLst/>
              <a:ahLst/>
              <a:cxnLst/>
              <a:rect r="r" b="b" t="t" l="l"/>
              <a:pathLst>
                <a:path h="1593725" w="492114">
                  <a:moveTo>
                    <a:pt x="0" y="0"/>
                  </a:moveTo>
                  <a:lnTo>
                    <a:pt x="492114" y="0"/>
                  </a:lnTo>
                  <a:lnTo>
                    <a:pt x="49211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508174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243241" y="-1845934"/>
            <a:ext cx="3691868" cy="3691868"/>
          </a:xfrm>
          <a:custGeom>
            <a:avLst/>
            <a:gdLst/>
            <a:ahLst/>
            <a:cxnLst/>
            <a:rect r="r" b="b" t="t" l="l"/>
            <a:pathLst>
              <a:path h="3691868" w="3691868">
                <a:moveTo>
                  <a:pt x="0" y="0"/>
                </a:moveTo>
                <a:lnTo>
                  <a:pt x="3691868" y="0"/>
                </a:lnTo>
                <a:lnTo>
                  <a:pt x="3691868" y="3691868"/>
                </a:lnTo>
                <a:lnTo>
                  <a:pt x="0" y="36918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684661" y="3193253"/>
          <a:ext cx="3505308" cy="4667250"/>
        </p:xfrm>
        <a:graphic>
          <a:graphicData uri="http://schemas.openxmlformats.org/drawingml/2006/table">
            <a:tbl>
              <a:tblPr/>
              <a:tblGrid>
                <a:gridCol w="960757"/>
                <a:gridCol w="1599423"/>
              </a:tblGrid>
              <a:tr h="7778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Bàn cờ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Nước đi tối ưu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8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Board 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8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Board 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8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Board 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8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Board 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8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Board 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7935109" y="876300"/>
            <a:ext cx="9324191" cy="2620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603"/>
              </a:lnSpc>
              <a:spcBef>
                <a:spcPct val="0"/>
              </a:spcBef>
            </a:pPr>
            <a:r>
              <a:rPr lang="en-US" b="true" sz="5199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T</a:t>
            </a:r>
            <a:r>
              <a:rPr lang="en-US" b="true" sz="5199" strike="noStrike" u="non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ask 3: Minimax Search with Alpha-Beta Pruning</a:t>
            </a:r>
          </a:p>
          <a:p>
            <a:pPr algn="r" marL="0" indent="0" lvl="0">
              <a:lnSpc>
                <a:spcPts val="6603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243241" y="2482025"/>
            <a:ext cx="12388148" cy="524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13"/>
              </a:lnSpc>
            </a:pPr>
            <a:r>
              <a:rPr lang="en-US" sz="300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3. Kết quả kiểm thử (5 bàn mẫu)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43241" y="7793828"/>
            <a:ext cx="12388148" cy="2657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13"/>
              </a:lnSpc>
            </a:pPr>
            <a:r>
              <a:rPr lang="en-US" sz="300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4. Hiệu năng</a:t>
            </a:r>
          </a:p>
          <a:p>
            <a:pPr algn="just" marL="649808" indent="-324904" lvl="1">
              <a:lnSpc>
                <a:spcPts val="4213"/>
              </a:lnSpc>
              <a:buFont typeface="Arial"/>
              <a:buChar char="•"/>
            </a:pPr>
            <a:r>
              <a:rPr lang="en-US" sz="300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Bàn cờ 4×4 chạy nhanh.</a:t>
            </a:r>
          </a:p>
          <a:p>
            <a:pPr algn="just" marL="649808" indent="-324904" lvl="1">
              <a:lnSpc>
                <a:spcPts val="4213"/>
              </a:lnSpc>
              <a:buFont typeface="Arial"/>
              <a:buChar char="•"/>
            </a:pPr>
            <a:r>
              <a:rPr lang="en-US" sz="300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Bàn 6×7 quá lớn: ~7⁴² ≈ 3×10³⁵ trạng thái → không khả thi.</a:t>
            </a:r>
          </a:p>
          <a:p>
            <a:pPr algn="just" marL="649808" indent="-324904" lvl="1">
              <a:lnSpc>
                <a:spcPts val="4213"/>
              </a:lnSpc>
              <a:buFont typeface="Arial"/>
              <a:buChar char="•"/>
            </a:pPr>
            <a:r>
              <a:rPr lang="en-US" sz="300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Giải pháp: Giới hạn độ sâu, heuristic, move ordering.</a:t>
            </a:r>
          </a:p>
          <a:p>
            <a:pPr algn="just">
              <a:lnSpc>
                <a:spcPts val="4213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3901" y="1028700"/>
            <a:ext cx="3353620" cy="8229600"/>
            <a:chOff x="0" y="0"/>
            <a:chExt cx="883258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3258" cy="2167467"/>
            </a:xfrm>
            <a:custGeom>
              <a:avLst/>
              <a:gdLst/>
              <a:ahLst/>
              <a:cxnLst/>
              <a:rect r="r" b="b" t="t" l="l"/>
              <a:pathLst>
                <a:path h="2167467" w="883258">
                  <a:moveTo>
                    <a:pt x="136203" y="0"/>
                  </a:moveTo>
                  <a:lnTo>
                    <a:pt x="747055" y="0"/>
                  </a:lnTo>
                  <a:cubicBezTo>
                    <a:pt x="822278" y="0"/>
                    <a:pt x="883258" y="60980"/>
                    <a:pt x="883258" y="136203"/>
                  </a:cubicBezTo>
                  <a:lnTo>
                    <a:pt x="883258" y="2031264"/>
                  </a:lnTo>
                  <a:cubicBezTo>
                    <a:pt x="883258" y="2106487"/>
                    <a:pt x="822278" y="2167467"/>
                    <a:pt x="747055" y="2167467"/>
                  </a:cubicBezTo>
                  <a:lnTo>
                    <a:pt x="136203" y="2167467"/>
                  </a:lnTo>
                  <a:cubicBezTo>
                    <a:pt x="100080" y="2167467"/>
                    <a:pt x="65436" y="2153117"/>
                    <a:pt x="39893" y="2127574"/>
                  </a:cubicBezTo>
                  <a:cubicBezTo>
                    <a:pt x="14350" y="2102031"/>
                    <a:pt x="0" y="2067387"/>
                    <a:pt x="0" y="2031264"/>
                  </a:cubicBezTo>
                  <a:lnTo>
                    <a:pt x="0" y="136203"/>
                  </a:lnTo>
                  <a:cubicBezTo>
                    <a:pt x="0" y="100080"/>
                    <a:pt x="14350" y="65436"/>
                    <a:pt x="39893" y="39893"/>
                  </a:cubicBezTo>
                  <a:cubicBezTo>
                    <a:pt x="65436" y="14350"/>
                    <a:pt x="100080" y="0"/>
                    <a:pt x="136203" y="0"/>
                  </a:cubicBezTo>
                  <a:close/>
                </a:path>
              </a:pathLst>
            </a:custGeom>
            <a:solidFill>
              <a:srgbClr val="E1ED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83258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10024" y="1028700"/>
            <a:ext cx="1496945" cy="149694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646066" y="1358520"/>
            <a:ext cx="824861" cy="837306"/>
          </a:xfrm>
          <a:custGeom>
            <a:avLst/>
            <a:gdLst/>
            <a:ahLst/>
            <a:cxnLst/>
            <a:rect r="r" b="b" t="t" l="l"/>
            <a:pathLst>
              <a:path h="837306" w="824861">
                <a:moveTo>
                  <a:pt x="0" y="0"/>
                </a:moveTo>
                <a:lnTo>
                  <a:pt x="824861" y="0"/>
                </a:lnTo>
                <a:lnTo>
                  <a:pt x="824861" y="837306"/>
                </a:lnTo>
                <a:lnTo>
                  <a:pt x="0" y="837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72909" y="7567140"/>
            <a:ext cx="1230927" cy="1230927"/>
          </a:xfrm>
          <a:custGeom>
            <a:avLst/>
            <a:gdLst/>
            <a:ahLst/>
            <a:cxnLst/>
            <a:rect r="r" b="b" t="t" l="l"/>
            <a:pathLst>
              <a:path h="1230927" w="1230927">
                <a:moveTo>
                  <a:pt x="0" y="0"/>
                </a:moveTo>
                <a:lnTo>
                  <a:pt x="1230927" y="0"/>
                </a:lnTo>
                <a:lnTo>
                  <a:pt x="1230927" y="1230927"/>
                </a:lnTo>
                <a:lnTo>
                  <a:pt x="0" y="1230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6708089" y="3664092"/>
          <a:ext cx="7315200" cy="5133975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Kích thước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Move Ordering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Thời gian (s)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3×3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❌ Không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0.008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3×3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✅ Có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0.009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4×4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❌ Không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30.70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4×4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✅ Có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19.03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4788044" y="885825"/>
            <a:ext cx="11155291" cy="943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30"/>
              </a:lnSpc>
              <a:spcBef>
                <a:spcPct val="0"/>
              </a:spcBef>
            </a:pPr>
            <a:r>
              <a:rPr lang="en-US" b="true" sz="5299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M</a:t>
            </a:r>
            <a:r>
              <a:rPr lang="en-US" b="true" sz="5299" strike="noStrike" u="non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ove Ordering &amp; Kết quả thi đấu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88044" y="1791208"/>
            <a:ext cx="6547779" cy="1544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1. C</a:t>
            </a:r>
            <a:r>
              <a:rPr lang="en-US" b="true" sz="2200" strike="noStrike" u="non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hiến lược Move Ordering</a:t>
            </a:r>
          </a:p>
          <a:p>
            <a:pPr algn="just" marL="474996" indent="-237498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trike="noStrike" u="none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Xét nước đi gần trung tâm trước → dễ tạo chuỗi thắng → giúp tỉa nhánh sớm hơn.</a:t>
            </a:r>
          </a:p>
          <a:p>
            <a:pPr algn="just" marL="474996" indent="-237498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trike="noStrike" u="none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Cải thiện đáng kể tốc độ tìm kiếm.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3901" y="1028700"/>
            <a:ext cx="3353620" cy="8229600"/>
            <a:chOff x="0" y="0"/>
            <a:chExt cx="883258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3258" cy="2167467"/>
            </a:xfrm>
            <a:custGeom>
              <a:avLst/>
              <a:gdLst/>
              <a:ahLst/>
              <a:cxnLst/>
              <a:rect r="r" b="b" t="t" l="l"/>
              <a:pathLst>
                <a:path h="2167467" w="883258">
                  <a:moveTo>
                    <a:pt x="136203" y="0"/>
                  </a:moveTo>
                  <a:lnTo>
                    <a:pt x="747055" y="0"/>
                  </a:lnTo>
                  <a:cubicBezTo>
                    <a:pt x="822278" y="0"/>
                    <a:pt x="883258" y="60980"/>
                    <a:pt x="883258" y="136203"/>
                  </a:cubicBezTo>
                  <a:lnTo>
                    <a:pt x="883258" y="2031264"/>
                  </a:lnTo>
                  <a:cubicBezTo>
                    <a:pt x="883258" y="2106487"/>
                    <a:pt x="822278" y="2167467"/>
                    <a:pt x="747055" y="2167467"/>
                  </a:cubicBezTo>
                  <a:lnTo>
                    <a:pt x="136203" y="2167467"/>
                  </a:lnTo>
                  <a:cubicBezTo>
                    <a:pt x="100080" y="2167467"/>
                    <a:pt x="65436" y="2153117"/>
                    <a:pt x="39893" y="2127574"/>
                  </a:cubicBezTo>
                  <a:cubicBezTo>
                    <a:pt x="14350" y="2102031"/>
                    <a:pt x="0" y="2067387"/>
                    <a:pt x="0" y="2031264"/>
                  </a:cubicBezTo>
                  <a:lnTo>
                    <a:pt x="0" y="136203"/>
                  </a:lnTo>
                  <a:cubicBezTo>
                    <a:pt x="0" y="100080"/>
                    <a:pt x="14350" y="65436"/>
                    <a:pt x="39893" y="39893"/>
                  </a:cubicBezTo>
                  <a:cubicBezTo>
                    <a:pt x="65436" y="14350"/>
                    <a:pt x="100080" y="0"/>
                    <a:pt x="136203" y="0"/>
                  </a:cubicBezTo>
                  <a:close/>
                </a:path>
              </a:pathLst>
            </a:custGeom>
            <a:solidFill>
              <a:srgbClr val="E1ED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83258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10024" y="1028700"/>
            <a:ext cx="1496945" cy="149694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646066" y="1358520"/>
            <a:ext cx="824861" cy="837306"/>
          </a:xfrm>
          <a:custGeom>
            <a:avLst/>
            <a:gdLst/>
            <a:ahLst/>
            <a:cxnLst/>
            <a:rect r="r" b="b" t="t" l="l"/>
            <a:pathLst>
              <a:path h="837306" w="824861">
                <a:moveTo>
                  <a:pt x="0" y="0"/>
                </a:moveTo>
                <a:lnTo>
                  <a:pt x="824861" y="0"/>
                </a:lnTo>
                <a:lnTo>
                  <a:pt x="824861" y="837306"/>
                </a:lnTo>
                <a:lnTo>
                  <a:pt x="0" y="837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72909" y="7567140"/>
            <a:ext cx="1230927" cy="1230927"/>
          </a:xfrm>
          <a:custGeom>
            <a:avLst/>
            <a:gdLst/>
            <a:ahLst/>
            <a:cxnLst/>
            <a:rect r="r" b="b" t="t" l="l"/>
            <a:pathLst>
              <a:path h="1230927" w="1230927">
                <a:moveTo>
                  <a:pt x="0" y="0"/>
                </a:moveTo>
                <a:lnTo>
                  <a:pt x="1230927" y="0"/>
                </a:lnTo>
                <a:lnTo>
                  <a:pt x="1230927" y="1230927"/>
                </a:lnTo>
                <a:lnTo>
                  <a:pt x="0" y="1230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6520079" y="4683267"/>
          <a:ext cx="7315200" cy="41148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Người chơi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Kết quả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Minimax Agent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8 thắng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Random Agent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0 thắng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Hòa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4788044" y="885825"/>
            <a:ext cx="11155291" cy="943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30"/>
              </a:lnSpc>
              <a:spcBef>
                <a:spcPct val="0"/>
              </a:spcBef>
            </a:pPr>
            <a:r>
              <a:rPr lang="en-US" b="true" sz="5299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M</a:t>
            </a:r>
            <a:r>
              <a:rPr lang="en-US" b="true" sz="5299" strike="noStrike" u="non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ove Ordering &amp; Kết quả thi đấu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88044" y="1791208"/>
            <a:ext cx="5332268" cy="271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2. Tìn</a:t>
            </a:r>
            <a:r>
              <a:rPr lang="en-US" b="true" sz="2200" strike="noStrike" u="non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h huống bàn cờ trống (Worst Case)</a:t>
            </a:r>
          </a:p>
          <a:p>
            <a:pPr algn="just" marL="474996" indent="-237498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trike="noStrike" u="none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Minimax phải duyệt toàn bộ cây.</a:t>
            </a:r>
          </a:p>
          <a:p>
            <a:pPr algn="just" marL="474996" indent="-237498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trike="noStrike" u="none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Giải pháp:</a:t>
            </a:r>
          </a:p>
          <a:p>
            <a:pPr algn="just" marL="949991" indent="-316664" lvl="2">
              <a:lnSpc>
                <a:spcPts val="3080"/>
              </a:lnSpc>
              <a:spcBef>
                <a:spcPct val="0"/>
              </a:spcBef>
              <a:buFont typeface="Arial"/>
              <a:buChar char="⚬"/>
            </a:pPr>
            <a:r>
              <a:rPr lang="en-US" sz="2200" strike="noStrike" u="none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Giới hạn độ sâu.</a:t>
            </a:r>
          </a:p>
          <a:p>
            <a:pPr algn="just" marL="949991" indent="-316664" lvl="2">
              <a:lnSpc>
                <a:spcPts val="3080"/>
              </a:lnSpc>
              <a:spcBef>
                <a:spcPct val="0"/>
              </a:spcBef>
              <a:buFont typeface="Arial"/>
              <a:buChar char="⚬"/>
            </a:pPr>
            <a:r>
              <a:rPr lang="en-US" sz="2200" strike="noStrike" u="none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Dùng hàm heuristic.</a:t>
            </a:r>
          </a:p>
          <a:p>
            <a:pPr algn="just" marL="949991" indent="-316664" lvl="2">
              <a:lnSpc>
                <a:spcPts val="3080"/>
              </a:lnSpc>
              <a:spcBef>
                <a:spcPct val="0"/>
              </a:spcBef>
              <a:buFont typeface="Arial"/>
              <a:buChar char="⚬"/>
            </a:pPr>
            <a:r>
              <a:rPr lang="en-US" sz="2200" strike="noStrike" u="none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Sắp xếp</a:t>
            </a:r>
            <a:r>
              <a:rPr lang="en-US" sz="2200" strike="noStrike" u="none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nước đi (move ordering).</a:t>
            </a:r>
          </a:p>
          <a:p>
            <a:pPr algn="just">
              <a:lnSpc>
                <a:spcPts val="3080"/>
              </a:lnSpc>
              <a:spcBef>
                <a:spcPct val="0"/>
              </a:spcBef>
            </a:pPr>
            <a:r>
              <a:rPr lang="en-US" b="true" sz="2200" strike="noStrike" u="non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b="true" sz="2200" strike="noStrike" u="non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3. Kết quả thi đấu (4×4)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788044" y="8931417"/>
            <a:ext cx="9115823" cy="1153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96" indent="-237498" lvl="1">
              <a:lnSpc>
                <a:spcPts val="3080"/>
              </a:lnSpc>
              <a:buFont typeface="Arial"/>
              <a:buChar char="•"/>
            </a:pPr>
            <a:r>
              <a:rPr lang="en-US" b="true" sz="2200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Kết luận</a:t>
            </a:r>
          </a:p>
          <a:p>
            <a:pPr algn="just" marL="949991" indent="-316664" lvl="2">
              <a:lnSpc>
                <a:spcPts val="3080"/>
              </a:lnSpc>
              <a:buFont typeface="Arial"/>
              <a:buChar char="⚬"/>
            </a:pPr>
            <a:r>
              <a:rPr lang="en-US" sz="2200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T</a:t>
            </a:r>
            <a:r>
              <a:rPr lang="en-US" sz="2200" strike="noStrike" u="none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huật toán Minimax + Alpha-Beta + Move Ordering giúp chọn nước đi thông minh, hiệu quả hơn nhiều so với random agent.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49770" y="-1538230"/>
            <a:ext cx="3076459" cy="3076459"/>
          </a:xfrm>
          <a:custGeom>
            <a:avLst/>
            <a:gdLst/>
            <a:ahLst/>
            <a:cxnLst/>
            <a:rect r="r" b="b" t="t" l="l"/>
            <a:pathLst>
              <a:path h="3076459" w="3076459">
                <a:moveTo>
                  <a:pt x="0" y="0"/>
                </a:moveTo>
                <a:lnTo>
                  <a:pt x="3076460" y="0"/>
                </a:lnTo>
                <a:lnTo>
                  <a:pt x="3076460" y="3076460"/>
                </a:lnTo>
                <a:lnTo>
                  <a:pt x="0" y="307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149017" y="3861098"/>
            <a:ext cx="5650143" cy="6425902"/>
            <a:chOff x="0" y="0"/>
            <a:chExt cx="1488104" cy="16924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88104" cy="1692419"/>
            </a:xfrm>
            <a:custGeom>
              <a:avLst/>
              <a:gdLst/>
              <a:ahLst/>
              <a:cxnLst/>
              <a:rect r="r" b="b" t="t" l="l"/>
              <a:pathLst>
                <a:path h="1692419" w="1488104">
                  <a:moveTo>
                    <a:pt x="0" y="0"/>
                  </a:moveTo>
                  <a:lnTo>
                    <a:pt x="1488104" y="0"/>
                  </a:lnTo>
                  <a:lnTo>
                    <a:pt x="1488104" y="1692419"/>
                  </a:lnTo>
                  <a:lnTo>
                    <a:pt x="0" y="1692419"/>
                  </a:lnTo>
                  <a:close/>
                </a:path>
              </a:pathLst>
            </a:custGeom>
            <a:solidFill>
              <a:srgbClr val="E1ED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488104" cy="1740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134363" y="1028700"/>
            <a:ext cx="5664797" cy="566479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1738" r="0" b="-1204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1703065"/>
            <a:ext cx="13794182" cy="8009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76"/>
              </a:lnSpc>
            </a:pPr>
            <a:r>
              <a:rPr lang="en-US" sz="3054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Heuristic Evaluation &amp; Depth Cutoff</a:t>
            </a:r>
          </a:p>
          <a:p>
            <a:pPr algn="just">
              <a:lnSpc>
                <a:spcPts val="4276"/>
              </a:lnSpc>
            </a:pPr>
            <a:r>
              <a:rPr lang="en-US" sz="3054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Mục tiêu</a:t>
            </a:r>
          </a:p>
          <a:p>
            <a:pPr algn="just" marL="659477" indent="-329739" lvl="1">
              <a:lnSpc>
                <a:spcPts val="4276"/>
              </a:lnSpc>
              <a:buFont typeface="Arial"/>
              <a:buChar char="•"/>
            </a:pPr>
            <a:r>
              <a:rPr lang="en-US" sz="3054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Cải tiến thuật toán Alpha–Beta Pruning bằng hàm đánh giá heuristic.</a:t>
            </a:r>
          </a:p>
          <a:p>
            <a:pPr algn="just" marL="659477" indent="-329739" lvl="1">
              <a:lnSpc>
                <a:spcPts val="4276"/>
              </a:lnSpc>
              <a:buFont typeface="Arial"/>
              <a:buChar char="•"/>
            </a:pPr>
            <a:r>
              <a:rPr lang="en-US" sz="3054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Giới hạn độ sâu tìm kiếm (cutoff depth) để tối ưu tốc độ.</a:t>
            </a:r>
          </a:p>
          <a:p>
            <a:pPr algn="just">
              <a:lnSpc>
                <a:spcPts val="4276"/>
              </a:lnSpc>
            </a:pPr>
            <a:r>
              <a:rPr lang="en-US" sz="3054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Heuristic Evaluation</a:t>
            </a:r>
          </a:p>
          <a:p>
            <a:pPr algn="just" marL="659477" indent="-329739" lvl="1">
              <a:lnSpc>
                <a:spcPts val="4276"/>
              </a:lnSpc>
              <a:buFont typeface="Arial"/>
              <a:buChar char="•"/>
            </a:pPr>
            <a:r>
              <a:rPr lang="en-US" sz="3054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Hàm heuristic ước lượng “độ tốt” của trạng thái bàn cờ trong khoảng [-1, 1]:</a:t>
            </a:r>
          </a:p>
          <a:p>
            <a:pPr algn="just" marL="1318955" indent="-439652" lvl="2">
              <a:lnSpc>
                <a:spcPts val="4276"/>
              </a:lnSpc>
              <a:buFont typeface="Arial"/>
              <a:buChar char="⚬"/>
            </a:pPr>
            <a:r>
              <a:rPr lang="en-US" sz="3054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+1: rất có lợi cho người chơi.</a:t>
            </a:r>
          </a:p>
          <a:p>
            <a:pPr algn="just" marL="1318955" indent="-439652" lvl="2">
              <a:lnSpc>
                <a:spcPts val="4276"/>
              </a:lnSpc>
              <a:buFont typeface="Arial"/>
              <a:buChar char="⚬"/>
            </a:pPr>
            <a:r>
              <a:rPr lang="en-US" sz="3054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0: trung lập.</a:t>
            </a:r>
          </a:p>
          <a:p>
            <a:pPr algn="just" marL="1318955" indent="-439652" lvl="2">
              <a:lnSpc>
                <a:spcPts val="4276"/>
              </a:lnSpc>
              <a:buFont typeface="Arial"/>
              <a:buChar char="⚬"/>
            </a:pPr>
            <a:r>
              <a:rPr lang="en-US" sz="3054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-1: bất lợi.</a:t>
            </a:r>
          </a:p>
          <a:p>
            <a:pPr algn="just" marL="659477" indent="-329739" lvl="1">
              <a:lnSpc>
                <a:spcPts val="4276"/>
              </a:lnSpc>
              <a:buFont typeface="Arial"/>
              <a:buChar char="•"/>
            </a:pPr>
            <a:r>
              <a:rPr lang="en-US" sz="3054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Đánh giá dựa trên số lượng quân liên tiếp (2 hoặc 3 quân).</a:t>
            </a:r>
          </a:p>
          <a:p>
            <a:pPr algn="just" marL="659477" indent="-329739" lvl="1">
              <a:lnSpc>
                <a:spcPts val="4276"/>
              </a:lnSpc>
              <a:buFont typeface="Arial"/>
              <a:buChar char="•"/>
            </a:pPr>
            <a:r>
              <a:rPr lang="en-US" sz="3054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Giảm điểm nếu đối thủ có chuỗi gần thắng.</a:t>
            </a:r>
          </a:p>
          <a:p>
            <a:pPr algn="just">
              <a:lnSpc>
                <a:spcPts val="4276"/>
              </a:lnSpc>
            </a:pPr>
            <a:r>
              <a:rPr lang="en-US" sz="3054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Kết quả thử nghiệm</a:t>
            </a:r>
          </a:p>
          <a:p>
            <a:pPr algn="just" marL="659477" indent="-329739" lvl="1">
              <a:lnSpc>
                <a:spcPts val="4276"/>
              </a:lnSpc>
              <a:buFont typeface="Arial"/>
              <a:buChar char="•"/>
            </a:pPr>
            <a:r>
              <a:rPr lang="en-US" sz="3054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Agent nhận biết chính xác tình huống sắp thắng.</a:t>
            </a:r>
          </a:p>
          <a:p>
            <a:pPr algn="just" marL="659477" indent="-329739" lvl="1">
              <a:lnSpc>
                <a:spcPts val="4276"/>
              </a:lnSpc>
              <a:buFont typeface="Arial"/>
              <a:buChar char="•"/>
            </a:pPr>
            <a:r>
              <a:rPr lang="en-US" sz="3054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Trong bàn cờ 4x4, agent chọn đúng vị trí giúp chiến thắng ngay lập tức.</a:t>
            </a:r>
          </a:p>
          <a:p>
            <a:pPr algn="just">
              <a:lnSpc>
                <a:spcPts val="4276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35356"/>
            <a:ext cx="15323019" cy="1034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65"/>
              </a:lnSpc>
              <a:spcBef>
                <a:spcPct val="0"/>
              </a:spcBef>
            </a:pPr>
            <a:r>
              <a:rPr lang="en-US" b="true" sz="5799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Task 4: He</a:t>
            </a:r>
            <a:r>
              <a:rPr lang="en-US" b="true" sz="5799" strike="noStrike" u="non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uristic Alpha-Beta Tree Search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7642226" y="-645774"/>
            <a:ext cx="1291547" cy="1291547"/>
          </a:xfrm>
          <a:custGeom>
            <a:avLst/>
            <a:gdLst/>
            <a:ahLst/>
            <a:cxnLst/>
            <a:rect r="r" b="b" t="t" l="l"/>
            <a:pathLst>
              <a:path h="1291547" w="1291547">
                <a:moveTo>
                  <a:pt x="0" y="0"/>
                </a:moveTo>
                <a:lnTo>
                  <a:pt x="1291548" y="0"/>
                </a:lnTo>
                <a:lnTo>
                  <a:pt x="1291548" y="1291548"/>
                </a:lnTo>
                <a:lnTo>
                  <a:pt x="0" y="12915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6499636" y="8788690"/>
            <a:ext cx="1519327" cy="469610"/>
          </a:xfrm>
          <a:custGeom>
            <a:avLst/>
            <a:gdLst/>
            <a:ahLst/>
            <a:cxnLst/>
            <a:rect r="r" b="b" t="t" l="l"/>
            <a:pathLst>
              <a:path h="469610" w="1519327">
                <a:moveTo>
                  <a:pt x="0" y="0"/>
                </a:moveTo>
                <a:lnTo>
                  <a:pt x="1519328" y="0"/>
                </a:lnTo>
                <a:lnTo>
                  <a:pt x="1519328" y="469610"/>
                </a:lnTo>
                <a:lnTo>
                  <a:pt x="0" y="4696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49770" y="-1538230"/>
            <a:ext cx="3076459" cy="3076459"/>
          </a:xfrm>
          <a:custGeom>
            <a:avLst/>
            <a:gdLst/>
            <a:ahLst/>
            <a:cxnLst/>
            <a:rect r="r" b="b" t="t" l="l"/>
            <a:pathLst>
              <a:path h="3076459" w="3076459">
                <a:moveTo>
                  <a:pt x="0" y="0"/>
                </a:moveTo>
                <a:lnTo>
                  <a:pt x="3076460" y="0"/>
                </a:lnTo>
                <a:lnTo>
                  <a:pt x="3076460" y="3076460"/>
                </a:lnTo>
                <a:lnTo>
                  <a:pt x="0" y="307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149017" y="3861098"/>
            <a:ext cx="5650143" cy="6425902"/>
            <a:chOff x="0" y="0"/>
            <a:chExt cx="1488104" cy="16924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88104" cy="1692419"/>
            </a:xfrm>
            <a:custGeom>
              <a:avLst/>
              <a:gdLst/>
              <a:ahLst/>
              <a:cxnLst/>
              <a:rect r="r" b="b" t="t" l="l"/>
              <a:pathLst>
                <a:path h="1692419" w="1488104">
                  <a:moveTo>
                    <a:pt x="0" y="0"/>
                  </a:moveTo>
                  <a:lnTo>
                    <a:pt x="1488104" y="0"/>
                  </a:lnTo>
                  <a:lnTo>
                    <a:pt x="1488104" y="1692419"/>
                  </a:lnTo>
                  <a:lnTo>
                    <a:pt x="0" y="1692419"/>
                  </a:lnTo>
                  <a:close/>
                </a:path>
              </a:pathLst>
            </a:custGeom>
            <a:solidFill>
              <a:srgbClr val="E1ED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488104" cy="1740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134363" y="1028700"/>
            <a:ext cx="5664797" cy="566479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1738" r="0" b="-1204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7642226" y="-645774"/>
            <a:ext cx="1291547" cy="1291547"/>
          </a:xfrm>
          <a:custGeom>
            <a:avLst/>
            <a:gdLst/>
            <a:ahLst/>
            <a:cxnLst/>
            <a:rect r="r" b="b" t="t" l="l"/>
            <a:pathLst>
              <a:path h="1291547" w="1291547">
                <a:moveTo>
                  <a:pt x="0" y="0"/>
                </a:moveTo>
                <a:lnTo>
                  <a:pt x="1291548" y="0"/>
                </a:lnTo>
                <a:lnTo>
                  <a:pt x="1291548" y="1291548"/>
                </a:lnTo>
                <a:lnTo>
                  <a:pt x="0" y="12915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499636" y="8788690"/>
            <a:ext cx="1519327" cy="469610"/>
          </a:xfrm>
          <a:custGeom>
            <a:avLst/>
            <a:gdLst/>
            <a:ahLst/>
            <a:cxnLst/>
            <a:rect r="r" b="b" t="t" l="l"/>
            <a:pathLst>
              <a:path h="469610" w="1519327">
                <a:moveTo>
                  <a:pt x="0" y="0"/>
                </a:moveTo>
                <a:lnTo>
                  <a:pt x="1519328" y="0"/>
                </a:lnTo>
                <a:lnTo>
                  <a:pt x="1519328" y="469610"/>
                </a:lnTo>
                <a:lnTo>
                  <a:pt x="0" y="4696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8432389" y="3861098"/>
          <a:ext cx="7274178" cy="1943100"/>
        </p:xfrm>
        <a:graphic>
          <a:graphicData uri="http://schemas.openxmlformats.org/drawingml/2006/table">
            <a:tbl>
              <a:tblPr/>
              <a:tblGrid>
                <a:gridCol w="3091686"/>
                <a:gridCol w="1394164"/>
                <a:gridCol w="1394164"/>
                <a:gridCol w="1394164"/>
              </a:tblGrid>
              <a:tr h="971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Số cột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1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Thời gian (giây)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0.023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0.071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0.147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1028700" y="1703065"/>
            <a:ext cx="12908974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Hiệu năng &amp; Thi đấu giữa các Agent</a:t>
            </a:r>
          </a:p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Cutoff Depth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Khi đạt giới hạn độ sâu, agent dừng tìm kiếm và dùng heuristic để ước lượng.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Giúp giảm đáng kể thời gian xử lý mà vẫn giữ chất lượng quyết định.</a:t>
            </a:r>
          </a:p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Thời gian trung bình theo kích thước bàn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35356"/>
            <a:ext cx="15323019" cy="1034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65"/>
              </a:lnSpc>
              <a:spcBef>
                <a:spcPct val="0"/>
              </a:spcBef>
            </a:pPr>
            <a:r>
              <a:rPr lang="en-US" b="true" sz="5799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Task 4: He</a:t>
            </a:r>
            <a:r>
              <a:rPr lang="en-US" b="true" sz="5799" strike="noStrike" u="non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uristic Alpha-Beta Tree Search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042323"/>
            <a:ext cx="13104911" cy="4443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Thời gian tăng gần tuyến tính theo kích thước bàn.</a:t>
            </a:r>
          </a:p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So tài giữa hai Agent Heuristic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Agent 1: Cutoff Depth = 3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Agent 2: Cutoff Depth = 5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Kết quả: Agent có độ sâu lớn hơn thắng 10/10 ván.</a:t>
            </a:r>
          </a:p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Kết luận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Kết hợp Heuristic Function và Depth Cutoff giúp giảm độ phức tạp tìm kiếm, tăng tốc độ phản hồi và duy trì hiệu quả chiến lược.</a:t>
            </a:r>
          </a:p>
          <a:p>
            <a:pPr algn="just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34028" y="6733028"/>
            <a:ext cx="5050544" cy="5050544"/>
          </a:xfrm>
          <a:custGeom>
            <a:avLst/>
            <a:gdLst/>
            <a:ahLst/>
            <a:cxnLst/>
            <a:rect r="r" b="b" t="t" l="l"/>
            <a:pathLst>
              <a:path h="5050544" w="5050544">
                <a:moveTo>
                  <a:pt x="0" y="0"/>
                </a:moveTo>
                <a:lnTo>
                  <a:pt x="5050544" y="0"/>
                </a:lnTo>
                <a:lnTo>
                  <a:pt x="5050544" y="5050544"/>
                </a:lnTo>
                <a:lnTo>
                  <a:pt x="0" y="5050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4392170"/>
            <a:ext cx="5650143" cy="5894830"/>
            <a:chOff x="0" y="0"/>
            <a:chExt cx="1488104" cy="15525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88104" cy="1552548"/>
            </a:xfrm>
            <a:custGeom>
              <a:avLst/>
              <a:gdLst/>
              <a:ahLst/>
              <a:cxnLst/>
              <a:rect r="r" b="b" t="t" l="l"/>
              <a:pathLst>
                <a:path h="1552548" w="1488104">
                  <a:moveTo>
                    <a:pt x="0" y="0"/>
                  </a:moveTo>
                  <a:lnTo>
                    <a:pt x="1488104" y="0"/>
                  </a:lnTo>
                  <a:lnTo>
                    <a:pt x="1488104" y="1552548"/>
                  </a:lnTo>
                  <a:lnTo>
                    <a:pt x="0" y="1552548"/>
                  </a:lnTo>
                  <a:close/>
                </a:path>
              </a:pathLst>
            </a:custGeom>
            <a:solidFill>
              <a:srgbClr val="E1ED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488104" cy="160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1689442"/>
            <a:ext cx="5650143" cy="565014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77392">
              <a:off x="-4950" y="-4950"/>
              <a:ext cx="822699" cy="822699"/>
            </a:xfrm>
            <a:custGeom>
              <a:avLst/>
              <a:gdLst/>
              <a:ahLst/>
              <a:cxnLst/>
              <a:rect r="r" b="b" t="t" l="l"/>
              <a:pathLst>
                <a:path h="822699" w="822699">
                  <a:moveTo>
                    <a:pt x="402202" y="5053"/>
                  </a:moveTo>
                  <a:cubicBezTo>
                    <a:pt x="177810" y="10105"/>
                    <a:pt x="0" y="196107"/>
                    <a:pt x="5053" y="420498"/>
                  </a:cubicBezTo>
                  <a:cubicBezTo>
                    <a:pt x="10105" y="644890"/>
                    <a:pt x="196107" y="822700"/>
                    <a:pt x="420498" y="817647"/>
                  </a:cubicBezTo>
                  <a:cubicBezTo>
                    <a:pt x="644890" y="812595"/>
                    <a:pt x="822700" y="626593"/>
                    <a:pt x="817647" y="402202"/>
                  </a:cubicBezTo>
                  <a:cubicBezTo>
                    <a:pt x="812595" y="177810"/>
                    <a:pt x="626593" y="0"/>
                    <a:pt x="402202" y="5053"/>
                  </a:cubicBezTo>
                  <a:close/>
                </a:path>
              </a:pathLst>
            </a:custGeom>
            <a:blipFill>
              <a:blip r:embed="rId4"/>
              <a:stretch>
                <a:fillRect l="-48066" t="-12382" r="-41702" b="-2994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648406" y="1028700"/>
            <a:ext cx="1858734" cy="185873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277754" y="1509529"/>
            <a:ext cx="600038" cy="897076"/>
          </a:xfrm>
          <a:custGeom>
            <a:avLst/>
            <a:gdLst/>
            <a:ahLst/>
            <a:cxnLst/>
            <a:rect r="r" b="b" t="t" l="l"/>
            <a:pathLst>
              <a:path h="897076" w="600038">
                <a:moveTo>
                  <a:pt x="0" y="0"/>
                </a:moveTo>
                <a:lnTo>
                  <a:pt x="600038" y="0"/>
                </a:lnTo>
                <a:lnTo>
                  <a:pt x="600038" y="897076"/>
                </a:lnTo>
                <a:lnTo>
                  <a:pt x="0" y="8970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558327" y="7453986"/>
            <a:ext cx="2763919" cy="882511"/>
          </a:xfrm>
          <a:custGeom>
            <a:avLst/>
            <a:gdLst/>
            <a:ahLst/>
            <a:cxnLst/>
            <a:rect r="r" b="b" t="t" l="l"/>
            <a:pathLst>
              <a:path h="882511" w="2763919">
                <a:moveTo>
                  <a:pt x="0" y="0"/>
                </a:moveTo>
                <a:lnTo>
                  <a:pt x="2763918" y="0"/>
                </a:lnTo>
                <a:lnTo>
                  <a:pt x="2763918" y="882511"/>
                </a:lnTo>
                <a:lnTo>
                  <a:pt x="0" y="8825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731524" y="7665975"/>
            <a:ext cx="1483489" cy="458533"/>
          </a:xfrm>
          <a:custGeom>
            <a:avLst/>
            <a:gdLst/>
            <a:ahLst/>
            <a:cxnLst/>
            <a:rect r="r" b="b" t="t" l="l"/>
            <a:pathLst>
              <a:path h="458533" w="1483489">
                <a:moveTo>
                  <a:pt x="0" y="0"/>
                </a:moveTo>
                <a:lnTo>
                  <a:pt x="1483490" y="0"/>
                </a:lnTo>
                <a:lnTo>
                  <a:pt x="1483490" y="458533"/>
                </a:lnTo>
                <a:lnTo>
                  <a:pt x="0" y="4585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529751" y="3555682"/>
            <a:ext cx="7883851" cy="300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19"/>
              </a:lnSpc>
            </a:pPr>
            <a:r>
              <a:rPr lang="en-US" sz="5999" b="tru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Adversarial Search: Playing Dots and Boxes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6264511" y="5348601"/>
            <a:ext cx="1025128" cy="1025128"/>
          </a:xfrm>
          <a:custGeom>
            <a:avLst/>
            <a:gdLst/>
            <a:ahLst/>
            <a:cxnLst/>
            <a:rect r="r" b="b" t="t" l="l"/>
            <a:pathLst>
              <a:path h="1025128" w="1025128">
                <a:moveTo>
                  <a:pt x="0" y="0"/>
                </a:moveTo>
                <a:lnTo>
                  <a:pt x="1025128" y="0"/>
                </a:lnTo>
                <a:lnTo>
                  <a:pt x="1025128" y="1025127"/>
                </a:lnTo>
                <a:lnTo>
                  <a:pt x="0" y="102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79142" y="770143"/>
            <a:ext cx="4829892" cy="5894830"/>
            <a:chOff x="0" y="0"/>
            <a:chExt cx="1272070" cy="1552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2070" cy="1552548"/>
            </a:xfrm>
            <a:custGeom>
              <a:avLst/>
              <a:gdLst/>
              <a:ahLst/>
              <a:cxnLst/>
              <a:rect r="r" b="b" t="t" l="l"/>
              <a:pathLst>
                <a:path h="1552548" w="1272070">
                  <a:moveTo>
                    <a:pt x="94572" y="0"/>
                  </a:moveTo>
                  <a:lnTo>
                    <a:pt x="1177498" y="0"/>
                  </a:lnTo>
                  <a:cubicBezTo>
                    <a:pt x="1229729" y="0"/>
                    <a:pt x="1272070" y="42341"/>
                    <a:pt x="1272070" y="94572"/>
                  </a:cubicBezTo>
                  <a:lnTo>
                    <a:pt x="1272070" y="1457976"/>
                  </a:lnTo>
                  <a:cubicBezTo>
                    <a:pt x="1272070" y="1483058"/>
                    <a:pt x="1262106" y="1507113"/>
                    <a:pt x="1244371" y="1524848"/>
                  </a:cubicBezTo>
                  <a:cubicBezTo>
                    <a:pt x="1226635" y="1542584"/>
                    <a:pt x="1202580" y="1552548"/>
                    <a:pt x="1177498" y="1552548"/>
                  </a:cubicBezTo>
                  <a:lnTo>
                    <a:pt x="94572" y="1552548"/>
                  </a:lnTo>
                  <a:cubicBezTo>
                    <a:pt x="69490" y="1552548"/>
                    <a:pt x="45435" y="1542584"/>
                    <a:pt x="27700" y="1524848"/>
                  </a:cubicBezTo>
                  <a:cubicBezTo>
                    <a:pt x="9964" y="1507113"/>
                    <a:pt x="0" y="1483058"/>
                    <a:pt x="0" y="1457976"/>
                  </a:cubicBezTo>
                  <a:lnTo>
                    <a:pt x="0" y="94572"/>
                  </a:lnTo>
                  <a:cubicBezTo>
                    <a:pt x="0" y="69490"/>
                    <a:pt x="9964" y="45435"/>
                    <a:pt x="27700" y="27700"/>
                  </a:cubicBezTo>
                  <a:cubicBezTo>
                    <a:pt x="45435" y="9964"/>
                    <a:pt x="69490" y="0"/>
                    <a:pt x="94572" y="0"/>
                  </a:cubicBezTo>
                  <a:close/>
                </a:path>
              </a:pathLst>
            </a:custGeom>
            <a:solidFill>
              <a:srgbClr val="E1EDF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272070" cy="160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222693" y="-984912"/>
            <a:ext cx="8730068" cy="3510110"/>
            <a:chOff x="0" y="0"/>
            <a:chExt cx="1352516" cy="5438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52516" cy="543808"/>
            </a:xfrm>
            <a:custGeom>
              <a:avLst/>
              <a:gdLst/>
              <a:ahLst/>
              <a:cxnLst/>
              <a:rect r="r" b="b" t="t" l="l"/>
              <a:pathLst>
                <a:path h="543808" w="1352516">
                  <a:moveTo>
                    <a:pt x="14189" y="0"/>
                  </a:moveTo>
                  <a:lnTo>
                    <a:pt x="1338327" y="0"/>
                  </a:lnTo>
                  <a:cubicBezTo>
                    <a:pt x="1346163" y="0"/>
                    <a:pt x="1352516" y="6353"/>
                    <a:pt x="1352516" y="14189"/>
                  </a:cubicBezTo>
                  <a:lnTo>
                    <a:pt x="1352516" y="529619"/>
                  </a:lnTo>
                  <a:cubicBezTo>
                    <a:pt x="1352516" y="537455"/>
                    <a:pt x="1346163" y="543808"/>
                    <a:pt x="1338327" y="543808"/>
                  </a:cubicBezTo>
                  <a:lnTo>
                    <a:pt x="14189" y="543808"/>
                  </a:lnTo>
                  <a:cubicBezTo>
                    <a:pt x="6353" y="543808"/>
                    <a:pt x="0" y="537455"/>
                    <a:pt x="0" y="529619"/>
                  </a:cubicBezTo>
                  <a:lnTo>
                    <a:pt x="0" y="14189"/>
                  </a:lnTo>
                  <a:cubicBezTo>
                    <a:pt x="0" y="6353"/>
                    <a:pt x="6353" y="0"/>
                    <a:pt x="14189" y="0"/>
                  </a:cubicBezTo>
                  <a:close/>
                </a:path>
              </a:pathLst>
            </a:custGeom>
            <a:blipFill>
              <a:blip r:embed="rId2"/>
              <a:stretch>
                <a:fillRect l="-3932" t="-47325" r="-12690" b="-47011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4848550" y="1944578"/>
            <a:ext cx="1226460" cy="379088"/>
          </a:xfrm>
          <a:custGeom>
            <a:avLst/>
            <a:gdLst/>
            <a:ahLst/>
            <a:cxnLst/>
            <a:rect r="r" b="b" t="t" l="l"/>
            <a:pathLst>
              <a:path h="379088" w="1226460">
                <a:moveTo>
                  <a:pt x="0" y="0"/>
                </a:moveTo>
                <a:lnTo>
                  <a:pt x="1226460" y="0"/>
                </a:lnTo>
                <a:lnTo>
                  <a:pt x="1226460" y="379087"/>
                </a:lnTo>
                <a:lnTo>
                  <a:pt x="0" y="3790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79142" y="8935522"/>
            <a:ext cx="960315" cy="960315"/>
          </a:xfrm>
          <a:custGeom>
            <a:avLst/>
            <a:gdLst/>
            <a:ahLst/>
            <a:cxnLst/>
            <a:rect r="r" b="b" t="t" l="l"/>
            <a:pathLst>
              <a:path h="960315" w="960315">
                <a:moveTo>
                  <a:pt x="0" y="0"/>
                </a:moveTo>
                <a:lnTo>
                  <a:pt x="960316" y="0"/>
                </a:lnTo>
                <a:lnTo>
                  <a:pt x="960316" y="960315"/>
                </a:lnTo>
                <a:lnTo>
                  <a:pt x="0" y="9603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237540" y="3105150"/>
          <a:ext cx="15350187" cy="6257925"/>
        </p:xfrm>
        <a:graphic>
          <a:graphicData uri="http://schemas.openxmlformats.org/drawingml/2006/table">
            <a:tbl>
              <a:tblPr/>
              <a:tblGrid>
                <a:gridCol w="2333681"/>
                <a:gridCol w="13016506"/>
              </a:tblGrid>
              <a:tr h="10254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Thành phần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Mô tả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4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Initial State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Bàn chơi trống, chưa có cạnh nào được vẽ. Mỗi điểm là tọa độ (i, j).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4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Actions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Vẽ một cạnh (ngang hoặc dọc) giữa hai điểm liền kề chưa nối, ví dụ ((0,0), (0,1)).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08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Transition 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 Khi người chơi vẽ cạnh, cạnh được thêm vào tập edges. - Nếu hoàn thành ô vuông: người chơi được điểm và đi tiếp. - Nếu không: đổi lượt cho người còn lại.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4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Terminal 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Trò chơi kết thúc khi tất cả các cạnh đã được chọn, không còn hành động hợp lệ.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4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Utility Function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( U(s) = Điểm_{P1} - Điểm_{P2} )→ U(s) &gt; 0: P1 thắng, U(s) &lt; 0: P2 thắng, U(s) = 0: hòa.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1028700" y="904875"/>
            <a:ext cx="11002566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5"/>
              </a:lnSpc>
            </a:pPr>
            <a:r>
              <a:rPr lang="en-US" sz="4500" b="tru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Task 1 – Defining the Search Problem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79142" y="770143"/>
            <a:ext cx="4829892" cy="5894830"/>
            <a:chOff x="0" y="0"/>
            <a:chExt cx="1272070" cy="1552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2070" cy="1552548"/>
            </a:xfrm>
            <a:custGeom>
              <a:avLst/>
              <a:gdLst/>
              <a:ahLst/>
              <a:cxnLst/>
              <a:rect r="r" b="b" t="t" l="l"/>
              <a:pathLst>
                <a:path h="1552548" w="1272070">
                  <a:moveTo>
                    <a:pt x="94572" y="0"/>
                  </a:moveTo>
                  <a:lnTo>
                    <a:pt x="1177498" y="0"/>
                  </a:lnTo>
                  <a:cubicBezTo>
                    <a:pt x="1229729" y="0"/>
                    <a:pt x="1272070" y="42341"/>
                    <a:pt x="1272070" y="94572"/>
                  </a:cubicBezTo>
                  <a:lnTo>
                    <a:pt x="1272070" y="1457976"/>
                  </a:lnTo>
                  <a:cubicBezTo>
                    <a:pt x="1272070" y="1483058"/>
                    <a:pt x="1262106" y="1507113"/>
                    <a:pt x="1244371" y="1524848"/>
                  </a:cubicBezTo>
                  <a:cubicBezTo>
                    <a:pt x="1226635" y="1542584"/>
                    <a:pt x="1202580" y="1552548"/>
                    <a:pt x="1177498" y="1552548"/>
                  </a:cubicBezTo>
                  <a:lnTo>
                    <a:pt x="94572" y="1552548"/>
                  </a:lnTo>
                  <a:cubicBezTo>
                    <a:pt x="69490" y="1552548"/>
                    <a:pt x="45435" y="1542584"/>
                    <a:pt x="27700" y="1524848"/>
                  </a:cubicBezTo>
                  <a:cubicBezTo>
                    <a:pt x="9964" y="1507113"/>
                    <a:pt x="0" y="1483058"/>
                    <a:pt x="0" y="1457976"/>
                  </a:cubicBezTo>
                  <a:lnTo>
                    <a:pt x="0" y="94572"/>
                  </a:lnTo>
                  <a:cubicBezTo>
                    <a:pt x="0" y="69490"/>
                    <a:pt x="9964" y="45435"/>
                    <a:pt x="27700" y="27700"/>
                  </a:cubicBezTo>
                  <a:cubicBezTo>
                    <a:pt x="45435" y="9964"/>
                    <a:pt x="69490" y="0"/>
                    <a:pt x="94572" y="0"/>
                  </a:cubicBezTo>
                  <a:close/>
                </a:path>
              </a:pathLst>
            </a:custGeom>
            <a:solidFill>
              <a:srgbClr val="E1EDF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272070" cy="160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222693" y="-984912"/>
            <a:ext cx="8730068" cy="3510110"/>
            <a:chOff x="0" y="0"/>
            <a:chExt cx="1352516" cy="5438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52516" cy="543808"/>
            </a:xfrm>
            <a:custGeom>
              <a:avLst/>
              <a:gdLst/>
              <a:ahLst/>
              <a:cxnLst/>
              <a:rect r="r" b="b" t="t" l="l"/>
              <a:pathLst>
                <a:path h="543808" w="1352516">
                  <a:moveTo>
                    <a:pt x="14189" y="0"/>
                  </a:moveTo>
                  <a:lnTo>
                    <a:pt x="1338327" y="0"/>
                  </a:lnTo>
                  <a:cubicBezTo>
                    <a:pt x="1346163" y="0"/>
                    <a:pt x="1352516" y="6353"/>
                    <a:pt x="1352516" y="14189"/>
                  </a:cubicBezTo>
                  <a:lnTo>
                    <a:pt x="1352516" y="529619"/>
                  </a:lnTo>
                  <a:cubicBezTo>
                    <a:pt x="1352516" y="537455"/>
                    <a:pt x="1346163" y="543808"/>
                    <a:pt x="1338327" y="543808"/>
                  </a:cubicBezTo>
                  <a:lnTo>
                    <a:pt x="14189" y="543808"/>
                  </a:lnTo>
                  <a:cubicBezTo>
                    <a:pt x="6353" y="543808"/>
                    <a:pt x="0" y="537455"/>
                    <a:pt x="0" y="529619"/>
                  </a:cubicBezTo>
                  <a:lnTo>
                    <a:pt x="0" y="14189"/>
                  </a:lnTo>
                  <a:cubicBezTo>
                    <a:pt x="0" y="6353"/>
                    <a:pt x="6353" y="0"/>
                    <a:pt x="14189" y="0"/>
                  </a:cubicBezTo>
                  <a:close/>
                </a:path>
              </a:pathLst>
            </a:custGeom>
            <a:blipFill>
              <a:blip r:embed="rId2"/>
              <a:stretch>
                <a:fillRect l="-3932" t="-47325" r="-12690" b="-47011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4848550" y="1944578"/>
            <a:ext cx="1226460" cy="379088"/>
          </a:xfrm>
          <a:custGeom>
            <a:avLst/>
            <a:gdLst/>
            <a:ahLst/>
            <a:cxnLst/>
            <a:rect r="r" b="b" t="t" l="l"/>
            <a:pathLst>
              <a:path h="379088" w="1226460">
                <a:moveTo>
                  <a:pt x="0" y="0"/>
                </a:moveTo>
                <a:lnTo>
                  <a:pt x="1226460" y="0"/>
                </a:lnTo>
                <a:lnTo>
                  <a:pt x="1226460" y="379087"/>
                </a:lnTo>
                <a:lnTo>
                  <a:pt x="0" y="3790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79142" y="8935522"/>
            <a:ext cx="960315" cy="960315"/>
          </a:xfrm>
          <a:custGeom>
            <a:avLst/>
            <a:gdLst/>
            <a:ahLst/>
            <a:cxnLst/>
            <a:rect r="r" b="b" t="t" l="l"/>
            <a:pathLst>
              <a:path h="960315" w="960315">
                <a:moveTo>
                  <a:pt x="0" y="0"/>
                </a:moveTo>
                <a:lnTo>
                  <a:pt x="960316" y="0"/>
                </a:lnTo>
                <a:lnTo>
                  <a:pt x="960316" y="960315"/>
                </a:lnTo>
                <a:lnTo>
                  <a:pt x="0" y="9603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554772" y="3966599"/>
            <a:ext cx="6316265" cy="864966"/>
          </a:xfrm>
          <a:custGeom>
            <a:avLst/>
            <a:gdLst/>
            <a:ahLst/>
            <a:cxnLst/>
            <a:rect r="r" b="b" t="t" l="l"/>
            <a:pathLst>
              <a:path h="864966" w="6316265">
                <a:moveTo>
                  <a:pt x="0" y="0"/>
                </a:moveTo>
                <a:lnTo>
                  <a:pt x="6316265" y="0"/>
                </a:lnTo>
                <a:lnTo>
                  <a:pt x="6316265" y="864966"/>
                </a:lnTo>
                <a:lnTo>
                  <a:pt x="0" y="8649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670139" y="7434996"/>
            <a:ext cx="4629447" cy="933356"/>
          </a:xfrm>
          <a:custGeom>
            <a:avLst/>
            <a:gdLst/>
            <a:ahLst/>
            <a:cxnLst/>
            <a:rect r="r" b="b" t="t" l="l"/>
            <a:pathLst>
              <a:path h="933356" w="4629447">
                <a:moveTo>
                  <a:pt x="0" y="0"/>
                </a:moveTo>
                <a:lnTo>
                  <a:pt x="4629447" y="0"/>
                </a:lnTo>
                <a:lnTo>
                  <a:pt x="4629447" y="933357"/>
                </a:lnTo>
                <a:lnTo>
                  <a:pt x="0" y="9333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904875"/>
            <a:ext cx="11002566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5"/>
              </a:lnSpc>
            </a:pPr>
            <a:r>
              <a:rPr lang="en-US" sz="4500" b="tru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Task 1 – Defining the Search Problem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048396"/>
            <a:ext cx="12733039" cy="1611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2"/>
              </a:lnSpc>
            </a:pPr>
            <a:r>
              <a:rPr lang="en-US" b="true" sz="3237">
                <a:solidFill>
                  <a:srgbClr val="0E2F5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State Space</a:t>
            </a:r>
          </a:p>
          <a:p>
            <a:pPr algn="l" marL="699075" indent="-349537" lvl="1">
              <a:lnSpc>
                <a:spcPts val="4112"/>
              </a:lnSpc>
              <a:buFont typeface="Arial"/>
              <a:buChar char="•"/>
            </a:pPr>
            <a:r>
              <a:rPr lang="en-US" sz="3237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Gồm tất cả các cấu hình cạnh &amp; ô vuông có thể.</a:t>
            </a:r>
          </a:p>
          <a:p>
            <a:pPr algn="l" marL="699075" indent="-349537" lvl="1">
              <a:lnSpc>
                <a:spcPts val="4112"/>
              </a:lnSpc>
              <a:buFont typeface="Arial"/>
              <a:buChar char="•"/>
            </a:pPr>
            <a:r>
              <a:rPr lang="en-US" sz="3237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Với bàn có n chấm mỗi hàng (k = n - 1), có tổng 2nk cạnh.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5054486"/>
            <a:ext cx="11282878" cy="2129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2"/>
              </a:lnSpc>
            </a:pPr>
            <a:r>
              <a:rPr lang="en-US" sz="3237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➡</a:t>
            </a:r>
            <a:r>
              <a:rPr lang="en-US" sz="3237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Không gian trạng thái tăng theo hàm mũ theo kích thước bàn.</a:t>
            </a:r>
          </a:p>
          <a:p>
            <a:pPr algn="l">
              <a:lnSpc>
                <a:spcPts val="4112"/>
              </a:lnSpc>
            </a:pPr>
          </a:p>
          <a:p>
            <a:pPr algn="l">
              <a:lnSpc>
                <a:spcPts val="4112"/>
              </a:lnSpc>
            </a:pPr>
            <a:r>
              <a:rPr lang="en-US" b="true" sz="3237">
                <a:solidFill>
                  <a:srgbClr val="0E2F5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Game Tree Size</a:t>
            </a:r>
          </a:p>
          <a:p>
            <a:pPr algn="l" marL="699075" indent="-349537" lvl="1">
              <a:lnSpc>
                <a:spcPts val="4112"/>
              </a:lnSpc>
              <a:buFont typeface="Arial"/>
              <a:buChar char="•"/>
            </a:pPr>
            <a:r>
              <a:rPr lang="en-US" sz="3237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Cây trò chơi biểu diễn tất cả chuỗi hành động có thể: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8533858"/>
            <a:ext cx="12379425" cy="109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2"/>
              </a:lnSpc>
            </a:pPr>
            <a:r>
              <a:rPr lang="en-US" sz="3237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Tă</a:t>
            </a:r>
            <a:r>
              <a:rPr lang="en-US" sz="3237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ng trưởng theo giai thừa, lớn hơn nhiều so với không gian trạng thái.</a:t>
            </a:r>
          </a:p>
          <a:p>
            <a:pPr algn="l">
              <a:lnSpc>
                <a:spcPts val="4112"/>
              </a:lnSpc>
            </a:pPr>
            <a:r>
              <a:rPr lang="en-US" sz="3237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</a:t>
            </a:r>
            <a:r>
              <a:rPr lang="en-US" sz="3237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➡</a:t>
            </a:r>
            <a:r>
              <a:rPr lang="en-US" sz="3237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</a:t>
            </a:r>
            <a:r>
              <a:rPr lang="en-US" sz="3237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V</a:t>
            </a:r>
            <a:r>
              <a:rPr lang="en-US" sz="3237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</a:t>
            </a:r>
            <a:r>
              <a:rPr lang="en-US" sz="3237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ệc duyệt toàn bộ bằng Minimax là không khả thi trên bàn lớn.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94817" y="2782372"/>
            <a:ext cx="3353620" cy="5894830"/>
            <a:chOff x="0" y="0"/>
            <a:chExt cx="883258" cy="1552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3258" cy="1552548"/>
            </a:xfrm>
            <a:custGeom>
              <a:avLst/>
              <a:gdLst/>
              <a:ahLst/>
              <a:cxnLst/>
              <a:rect r="r" b="b" t="t" l="l"/>
              <a:pathLst>
                <a:path h="1552548" w="883258">
                  <a:moveTo>
                    <a:pt x="136203" y="0"/>
                  </a:moveTo>
                  <a:lnTo>
                    <a:pt x="747055" y="0"/>
                  </a:lnTo>
                  <a:cubicBezTo>
                    <a:pt x="822278" y="0"/>
                    <a:pt x="883258" y="60980"/>
                    <a:pt x="883258" y="136203"/>
                  </a:cubicBezTo>
                  <a:lnTo>
                    <a:pt x="883258" y="1416345"/>
                  </a:lnTo>
                  <a:cubicBezTo>
                    <a:pt x="883258" y="1452468"/>
                    <a:pt x="868908" y="1487112"/>
                    <a:pt x="843365" y="1512655"/>
                  </a:cubicBezTo>
                  <a:cubicBezTo>
                    <a:pt x="817822" y="1538198"/>
                    <a:pt x="783178" y="1552548"/>
                    <a:pt x="747055" y="1552548"/>
                  </a:cubicBezTo>
                  <a:lnTo>
                    <a:pt x="136203" y="1552548"/>
                  </a:lnTo>
                  <a:cubicBezTo>
                    <a:pt x="100080" y="1552548"/>
                    <a:pt x="65436" y="1538198"/>
                    <a:pt x="39893" y="1512655"/>
                  </a:cubicBezTo>
                  <a:cubicBezTo>
                    <a:pt x="14350" y="1487112"/>
                    <a:pt x="0" y="1452468"/>
                    <a:pt x="0" y="1416345"/>
                  </a:cubicBezTo>
                  <a:lnTo>
                    <a:pt x="0" y="136203"/>
                  </a:lnTo>
                  <a:cubicBezTo>
                    <a:pt x="0" y="100080"/>
                    <a:pt x="14350" y="65436"/>
                    <a:pt x="39893" y="39893"/>
                  </a:cubicBezTo>
                  <a:cubicBezTo>
                    <a:pt x="65436" y="14350"/>
                    <a:pt x="100080" y="0"/>
                    <a:pt x="136203" y="0"/>
                  </a:cubicBezTo>
                  <a:close/>
                </a:path>
              </a:pathLst>
            </a:custGeom>
            <a:solidFill>
              <a:srgbClr val="E1ED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83258" cy="160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31036" y="876300"/>
            <a:ext cx="15728264" cy="1782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603"/>
              </a:lnSpc>
              <a:spcBef>
                <a:spcPct val="0"/>
              </a:spcBef>
            </a:pPr>
            <a:r>
              <a:rPr lang="en-US" b="true" sz="5199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T</a:t>
            </a:r>
            <a:r>
              <a:rPr lang="en-US" b="true" sz="5199" strike="noStrike" u="non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ask 2: Game Environment and Random Agent</a:t>
            </a:r>
          </a:p>
          <a:p>
            <a:pPr algn="r" marL="0" indent="0" lvl="0">
              <a:lnSpc>
                <a:spcPts val="6603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044420" y="-2663168"/>
            <a:ext cx="3691868" cy="3691868"/>
          </a:xfrm>
          <a:custGeom>
            <a:avLst/>
            <a:gdLst/>
            <a:ahLst/>
            <a:cxnLst/>
            <a:rect r="r" b="b" t="t" l="l"/>
            <a:pathLst>
              <a:path h="3691868" w="3691868">
                <a:moveTo>
                  <a:pt x="0" y="0"/>
                </a:moveTo>
                <a:lnTo>
                  <a:pt x="3691867" y="0"/>
                </a:lnTo>
                <a:lnTo>
                  <a:pt x="3691867" y="3691868"/>
                </a:lnTo>
                <a:lnTo>
                  <a:pt x="0" y="3691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5065" y="381223"/>
            <a:ext cx="647477" cy="647477"/>
          </a:xfrm>
          <a:custGeom>
            <a:avLst/>
            <a:gdLst/>
            <a:ahLst/>
            <a:cxnLst/>
            <a:rect r="r" b="b" t="t" l="l"/>
            <a:pathLst>
              <a:path h="647477" w="647477">
                <a:moveTo>
                  <a:pt x="0" y="0"/>
                </a:moveTo>
                <a:lnTo>
                  <a:pt x="647476" y="0"/>
                </a:lnTo>
                <a:lnTo>
                  <a:pt x="647476" y="647477"/>
                </a:lnTo>
                <a:lnTo>
                  <a:pt x="0" y="6474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3688909" y="4198160"/>
          <a:ext cx="13925902" cy="5381625"/>
        </p:xfrm>
        <a:graphic>
          <a:graphicData uri="http://schemas.openxmlformats.org/drawingml/2006/table">
            <a:tbl>
              <a:tblPr/>
              <a:tblGrid>
                <a:gridCol w="2130554"/>
                <a:gridCol w="11795348"/>
              </a:tblGrid>
              <a:tr h="10264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Thành phần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Mô tả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4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board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{'size': (rows, cols), 'lines': {}, 'boxes': {}}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869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Giải thích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 size: kích thước bàn cờ (số chấm hàng × cột).</a:t>
                      </a:r>
                      <a:endParaRPr lang="en-US" sz="1100"/>
                    </a:p>
                    <a:p>
                      <a:pPr algn="l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 lines: danh sách các cạnh đã được vẽ.</a:t>
                      </a:r>
                    </a:p>
                    <a:p>
                      <a:pPr algn="l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 boxes: ô đã hoàn thành và người chơi sở hữu (+1 hoặc -1).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18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Các hàm chính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 actions(board): liệt kê các cạnh hợp lệ.</a:t>
                      </a:r>
                      <a:endParaRPr lang="en-US" sz="1100"/>
                    </a:p>
                    <a:p>
                      <a:pPr algn="l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 result(board, action, player): cập nhật bàn cờ.</a:t>
                      </a:r>
                    </a:p>
                    <a:p>
                      <a:pPr algn="l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 terminal(board): kiểm tra trò chơi kết thúc.</a:t>
                      </a:r>
                    </a:p>
                    <a:p>
                      <a:pPr algn="l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 utility(board): tính điểm.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4044420" y="2744272"/>
            <a:ext cx="13214880" cy="1153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0"/>
              </a:lnSpc>
            </a:pPr>
            <a:r>
              <a:rPr lang="en-US" sz="2200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Mục tiêu:</a:t>
            </a:r>
          </a:p>
          <a:p>
            <a:pPr algn="just" marL="474996" indent="-237498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Xây dựng mô</a:t>
            </a:r>
            <a:r>
              <a:rPr lang="en-US" sz="2200" strike="noStrike" u="none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i trường trò chơi Dots and Boxes gồm cấu trúc dữ liệu, luật chơi và c</a:t>
            </a:r>
            <a:r>
              <a:rPr lang="en-US" sz="2200" strike="noStrike" u="none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ác hàm hỗ trợ để các agent có thể tương tác.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94817" y="2782372"/>
            <a:ext cx="3353620" cy="5894830"/>
            <a:chOff x="0" y="0"/>
            <a:chExt cx="883258" cy="1552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3258" cy="1552548"/>
            </a:xfrm>
            <a:custGeom>
              <a:avLst/>
              <a:gdLst/>
              <a:ahLst/>
              <a:cxnLst/>
              <a:rect r="r" b="b" t="t" l="l"/>
              <a:pathLst>
                <a:path h="1552548" w="883258">
                  <a:moveTo>
                    <a:pt x="136203" y="0"/>
                  </a:moveTo>
                  <a:lnTo>
                    <a:pt x="747055" y="0"/>
                  </a:lnTo>
                  <a:cubicBezTo>
                    <a:pt x="822278" y="0"/>
                    <a:pt x="883258" y="60980"/>
                    <a:pt x="883258" y="136203"/>
                  </a:cubicBezTo>
                  <a:lnTo>
                    <a:pt x="883258" y="1416345"/>
                  </a:lnTo>
                  <a:cubicBezTo>
                    <a:pt x="883258" y="1452468"/>
                    <a:pt x="868908" y="1487112"/>
                    <a:pt x="843365" y="1512655"/>
                  </a:cubicBezTo>
                  <a:cubicBezTo>
                    <a:pt x="817822" y="1538198"/>
                    <a:pt x="783178" y="1552548"/>
                    <a:pt x="747055" y="1552548"/>
                  </a:cubicBezTo>
                  <a:lnTo>
                    <a:pt x="136203" y="1552548"/>
                  </a:lnTo>
                  <a:cubicBezTo>
                    <a:pt x="100080" y="1552548"/>
                    <a:pt x="65436" y="1538198"/>
                    <a:pt x="39893" y="1512655"/>
                  </a:cubicBezTo>
                  <a:cubicBezTo>
                    <a:pt x="14350" y="1487112"/>
                    <a:pt x="0" y="1452468"/>
                    <a:pt x="0" y="1416345"/>
                  </a:cubicBezTo>
                  <a:lnTo>
                    <a:pt x="0" y="136203"/>
                  </a:lnTo>
                  <a:cubicBezTo>
                    <a:pt x="0" y="100080"/>
                    <a:pt x="14350" y="65436"/>
                    <a:pt x="39893" y="39893"/>
                  </a:cubicBezTo>
                  <a:cubicBezTo>
                    <a:pt x="65436" y="14350"/>
                    <a:pt x="100080" y="0"/>
                    <a:pt x="136203" y="0"/>
                  </a:cubicBezTo>
                  <a:close/>
                </a:path>
              </a:pathLst>
            </a:custGeom>
            <a:solidFill>
              <a:srgbClr val="E1ED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83258" cy="160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31036" y="876300"/>
            <a:ext cx="15728264" cy="1782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603"/>
              </a:lnSpc>
              <a:spcBef>
                <a:spcPct val="0"/>
              </a:spcBef>
            </a:pPr>
            <a:r>
              <a:rPr lang="en-US" b="true" sz="5199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T</a:t>
            </a:r>
            <a:r>
              <a:rPr lang="en-US" b="true" sz="5199" strike="noStrike" u="non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ask 2: Game Environment and Random Agent</a:t>
            </a:r>
          </a:p>
          <a:p>
            <a:pPr algn="r" marL="0" indent="0" lvl="0">
              <a:lnSpc>
                <a:spcPts val="6603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044420" y="-2663168"/>
            <a:ext cx="3691868" cy="3691868"/>
          </a:xfrm>
          <a:custGeom>
            <a:avLst/>
            <a:gdLst/>
            <a:ahLst/>
            <a:cxnLst/>
            <a:rect r="r" b="b" t="t" l="l"/>
            <a:pathLst>
              <a:path h="3691868" w="3691868">
                <a:moveTo>
                  <a:pt x="0" y="0"/>
                </a:moveTo>
                <a:lnTo>
                  <a:pt x="3691867" y="0"/>
                </a:lnTo>
                <a:lnTo>
                  <a:pt x="3691867" y="3691868"/>
                </a:lnTo>
                <a:lnTo>
                  <a:pt x="0" y="3691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5065" y="381223"/>
            <a:ext cx="647477" cy="647477"/>
          </a:xfrm>
          <a:custGeom>
            <a:avLst/>
            <a:gdLst/>
            <a:ahLst/>
            <a:cxnLst/>
            <a:rect r="r" b="b" t="t" l="l"/>
            <a:pathLst>
              <a:path h="647477" w="647477">
                <a:moveTo>
                  <a:pt x="0" y="0"/>
                </a:moveTo>
                <a:lnTo>
                  <a:pt x="647476" y="0"/>
                </a:lnTo>
                <a:lnTo>
                  <a:pt x="647476" y="647477"/>
                </a:lnTo>
                <a:lnTo>
                  <a:pt x="0" y="6474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282541" y="2130841"/>
            <a:ext cx="14065006" cy="7127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97"/>
              </a:lnSpc>
            </a:pPr>
            <a:r>
              <a:rPr lang="en-US" sz="3141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Random Agent:</a:t>
            </a:r>
          </a:p>
          <a:p>
            <a:pPr algn="just" marL="678223" indent="-339112" lvl="1">
              <a:lnSpc>
                <a:spcPts val="4397"/>
              </a:lnSpc>
              <a:buFont typeface="Arial"/>
              <a:buChar char="•"/>
            </a:pPr>
            <a:r>
              <a:rPr lang="en-US" sz="3141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Hàm</a:t>
            </a:r>
            <a:r>
              <a:rPr lang="en-US" sz="3141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random_player(board, player) chọn ngẫu nhiên 1 hành động hợp lệ.</a:t>
            </a:r>
          </a:p>
          <a:p>
            <a:pPr algn="just" marL="678223" indent="-339112" lvl="1">
              <a:lnSpc>
                <a:spcPts val="4397"/>
              </a:lnSpc>
              <a:buFont typeface="Arial"/>
              <a:buChar char="•"/>
            </a:pPr>
            <a:r>
              <a:rPr lang="en-US" sz="3141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Dùng để kiểm tra tính công bằng của mô</a:t>
            </a:r>
            <a:r>
              <a:rPr lang="en-US" sz="3141" strike="noStrike" u="none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i trường.</a:t>
            </a:r>
          </a:p>
          <a:p>
            <a:pPr algn="just">
              <a:lnSpc>
                <a:spcPts val="4397"/>
              </a:lnSpc>
            </a:pPr>
            <a:r>
              <a:rPr lang="en-US" b="true" sz="3141" strike="noStrike" u="non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Thí nghiệm:</a:t>
            </a:r>
          </a:p>
          <a:p>
            <a:pPr algn="just" marL="678223" indent="-339112" lvl="1">
              <a:lnSpc>
                <a:spcPts val="4397"/>
              </a:lnSpc>
              <a:buFont typeface="Arial"/>
              <a:buChar char="•"/>
            </a:pPr>
            <a:r>
              <a:rPr lang="en-US" sz="3141" strike="noStrike" u="none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Hai agent ngẫu nhiên đấu 1000 ván trên bàn 4×4.</a:t>
            </a:r>
          </a:p>
          <a:p>
            <a:pPr algn="just">
              <a:lnSpc>
                <a:spcPts val="4397"/>
              </a:lnSpc>
            </a:pPr>
            <a:r>
              <a:rPr lang="en-US" b="true" sz="3141" strike="noStrike" u="non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Kết quả:</a:t>
            </a:r>
          </a:p>
          <a:p>
            <a:pPr algn="just" marL="678223" indent="-339112" lvl="1">
              <a:lnSpc>
                <a:spcPts val="4397"/>
              </a:lnSpc>
              <a:buFont typeface="Arial"/>
              <a:buChar char="•"/>
            </a:pPr>
            <a:r>
              <a:rPr lang="en-US" sz="3141" strike="noStrike" u="none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Người chơi 1 thắng: 470</a:t>
            </a:r>
          </a:p>
          <a:p>
            <a:pPr algn="just" marL="678223" indent="-339112" lvl="1">
              <a:lnSpc>
                <a:spcPts val="4397"/>
              </a:lnSpc>
              <a:buFont typeface="Arial"/>
              <a:buChar char="•"/>
            </a:pPr>
            <a:r>
              <a:rPr lang="en-US" sz="3141" strike="noStrike" u="none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Người chơi 2 thắng: 530</a:t>
            </a:r>
          </a:p>
          <a:p>
            <a:pPr algn="just" marL="678223" indent="-339112" lvl="1">
              <a:lnSpc>
                <a:spcPts val="4397"/>
              </a:lnSpc>
              <a:buFont typeface="Arial"/>
              <a:buChar char="•"/>
            </a:pPr>
            <a:r>
              <a:rPr lang="en-US" sz="3141" strike="noStrike" u="none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Hòa: 0</a:t>
            </a:r>
          </a:p>
          <a:p>
            <a:pPr algn="just">
              <a:lnSpc>
                <a:spcPts val="4397"/>
              </a:lnSpc>
            </a:pPr>
            <a:r>
              <a:rPr lang="en-US" b="true" sz="3141" strike="noStrike" u="non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Nhận xét:</a:t>
            </a:r>
          </a:p>
          <a:p>
            <a:pPr algn="just" marL="678223" indent="-339112" lvl="1">
              <a:lnSpc>
                <a:spcPts val="4397"/>
              </a:lnSpc>
              <a:buFont typeface="Arial"/>
              <a:buChar char="•"/>
            </a:pPr>
            <a:r>
              <a:rPr lang="en-US" sz="3141" strike="noStrike" u="none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Kết quả gần cân bằng, cho thấy môi trường hoạt động đúng.</a:t>
            </a:r>
          </a:p>
          <a:p>
            <a:pPr algn="just" marL="678223" indent="-339112" lvl="1">
              <a:lnSpc>
                <a:spcPts val="4397"/>
              </a:lnSpc>
              <a:buFont typeface="Arial"/>
              <a:buChar char="•"/>
            </a:pPr>
            <a:r>
              <a:rPr lang="en-US" sz="3141" strike="noStrike" u="none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Không có chiến lược tối ưu vì hành động</a:t>
            </a:r>
            <a:r>
              <a:rPr lang="en-US" sz="3141" strike="noStrike" u="none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hoàn toàn ngẫu nhiên.</a:t>
            </a:r>
          </a:p>
          <a:p>
            <a:pPr algn="just" marL="678223" indent="-339112" lvl="1">
              <a:lnSpc>
                <a:spcPts val="4397"/>
              </a:lnSpc>
              <a:buFont typeface="Arial"/>
              <a:buChar char="•"/>
            </a:pPr>
            <a:r>
              <a:rPr lang="en-US" sz="3141" strike="noStrike" u="none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Lượt đi đầu tiên có thể ảnh hưởng nhẹ đến kết quả.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79655" y="8887065"/>
            <a:ext cx="3676462" cy="367646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5046" t="0" r="-37978" b="-8615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3553790" y="-1205189"/>
            <a:ext cx="3691868" cy="3691868"/>
          </a:xfrm>
          <a:custGeom>
            <a:avLst/>
            <a:gdLst/>
            <a:ahLst/>
            <a:cxnLst/>
            <a:rect r="r" b="b" t="t" l="l"/>
            <a:pathLst>
              <a:path h="3691868" w="3691868">
                <a:moveTo>
                  <a:pt x="0" y="0"/>
                </a:moveTo>
                <a:lnTo>
                  <a:pt x="3691868" y="0"/>
                </a:lnTo>
                <a:lnTo>
                  <a:pt x="3691868" y="3691868"/>
                </a:lnTo>
                <a:lnTo>
                  <a:pt x="0" y="36918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570179" y="0"/>
            <a:ext cx="3903797" cy="10287000"/>
            <a:chOff x="0" y="0"/>
            <a:chExt cx="604800" cy="15937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4800" cy="1593725"/>
            </a:xfrm>
            <a:custGeom>
              <a:avLst/>
              <a:gdLst/>
              <a:ahLst/>
              <a:cxnLst/>
              <a:rect r="r" b="b" t="t" l="l"/>
              <a:pathLst>
                <a:path h="1593725" w="604800">
                  <a:moveTo>
                    <a:pt x="0" y="0"/>
                  </a:moveTo>
                  <a:lnTo>
                    <a:pt x="604800" y="0"/>
                  </a:lnTo>
                  <a:lnTo>
                    <a:pt x="60480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5"/>
              <a:stretch>
                <a:fillRect l="-336648" t="0" r="-5821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1760016" y="1028700"/>
            <a:ext cx="1226460" cy="379088"/>
          </a:xfrm>
          <a:custGeom>
            <a:avLst/>
            <a:gdLst/>
            <a:ahLst/>
            <a:cxnLst/>
            <a:rect r="r" b="b" t="t" l="l"/>
            <a:pathLst>
              <a:path h="379088" w="1226460">
                <a:moveTo>
                  <a:pt x="0" y="0"/>
                </a:moveTo>
                <a:lnTo>
                  <a:pt x="1226459" y="0"/>
                </a:lnTo>
                <a:lnTo>
                  <a:pt x="1226459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028700" y="3915759"/>
          <a:ext cx="14280356" cy="6076950"/>
        </p:xfrm>
        <a:graphic>
          <a:graphicData uri="http://schemas.openxmlformats.org/drawingml/2006/table">
            <a:tbl>
              <a:tblPr/>
              <a:tblGrid>
                <a:gridCol w="2696709"/>
                <a:gridCol w="11583648"/>
              </a:tblGrid>
              <a:tr h="7763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Thành phần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Mô tả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63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Hàm minimax()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Tìm nước đi tối ưu bằng duyệt cây trạng thái, cắt tỉa các nhánh không cần thiết.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0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Đặc điểm bổ sung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 Người chơi được đi tiếp nếu hoàn thành ô.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 Áp dụng cho bàn cờ nhỏ do không gian tìm kiếm lớn.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0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Kết quả thử nghiệm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 Board 1: Agent chọn đúng nước thắng (‘h’, 1, 0).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 Board 2 &amp; 3: Chọn nước tối ưu về lâu dài.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0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Thời gian chạy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- 2×2: ~0.0005s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- 3×3: ~38s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0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Nhận xét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 Hoạt động đúng, cắt tỉa hiệu quả.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 Board lớn → tăng thời gian xử lý mạnh.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028700" y="895350"/>
            <a:ext cx="8953690" cy="168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50"/>
              </a:lnSpc>
              <a:spcBef>
                <a:spcPct val="0"/>
              </a:spcBef>
            </a:pPr>
            <a:r>
              <a:rPr lang="en-US" b="true" sz="5000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T</a:t>
            </a:r>
            <a:r>
              <a:rPr lang="en-US" b="true" sz="5000" strike="noStrike" u="non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ask 3 – Minimax Search with Alpha-Beta Pruning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536825"/>
            <a:ext cx="5977078" cy="1242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99"/>
              </a:lnSpc>
              <a:spcBef>
                <a:spcPct val="0"/>
              </a:spcBef>
            </a:pPr>
            <a:r>
              <a:rPr lang="en-US" b="true" sz="2356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Mục </a:t>
            </a:r>
            <a:r>
              <a:rPr lang="en-US" b="true" sz="2356" strike="noStrike" u="non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tiêu:</a:t>
            </a:r>
          </a:p>
          <a:p>
            <a:pPr algn="l" marL="508760" indent="-254380" lvl="1">
              <a:lnSpc>
                <a:spcPts val="3299"/>
              </a:lnSpc>
              <a:buFont typeface="Arial"/>
              <a:buChar char="•"/>
            </a:pPr>
            <a:r>
              <a:rPr lang="en-US" sz="2356" strike="noStrike" u="none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Cài đặt thuật toán Minimax có cắt tỉa Alpha-Beta cho trò chơi Dots and Boxes.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79655" y="8887065"/>
            <a:ext cx="3676462" cy="367646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5046" t="0" r="-37978" b="-8615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3553790" y="-1205189"/>
            <a:ext cx="3691868" cy="3691868"/>
          </a:xfrm>
          <a:custGeom>
            <a:avLst/>
            <a:gdLst/>
            <a:ahLst/>
            <a:cxnLst/>
            <a:rect r="r" b="b" t="t" l="l"/>
            <a:pathLst>
              <a:path h="3691868" w="3691868">
                <a:moveTo>
                  <a:pt x="0" y="0"/>
                </a:moveTo>
                <a:lnTo>
                  <a:pt x="3691868" y="0"/>
                </a:lnTo>
                <a:lnTo>
                  <a:pt x="3691868" y="3691868"/>
                </a:lnTo>
                <a:lnTo>
                  <a:pt x="0" y="36918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570179" y="0"/>
            <a:ext cx="3903797" cy="10287000"/>
            <a:chOff x="0" y="0"/>
            <a:chExt cx="604800" cy="15937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4800" cy="1593725"/>
            </a:xfrm>
            <a:custGeom>
              <a:avLst/>
              <a:gdLst/>
              <a:ahLst/>
              <a:cxnLst/>
              <a:rect r="r" b="b" t="t" l="l"/>
              <a:pathLst>
                <a:path h="1593725" w="604800">
                  <a:moveTo>
                    <a:pt x="0" y="0"/>
                  </a:moveTo>
                  <a:lnTo>
                    <a:pt x="604800" y="0"/>
                  </a:lnTo>
                  <a:lnTo>
                    <a:pt x="60480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5"/>
              <a:stretch>
                <a:fillRect l="-336648" t="0" r="-5821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1760016" y="1028700"/>
            <a:ext cx="1226460" cy="379088"/>
          </a:xfrm>
          <a:custGeom>
            <a:avLst/>
            <a:gdLst/>
            <a:ahLst/>
            <a:cxnLst/>
            <a:rect r="r" b="b" t="t" l="l"/>
            <a:pathLst>
              <a:path h="379088" w="1226460">
                <a:moveTo>
                  <a:pt x="0" y="0"/>
                </a:moveTo>
                <a:lnTo>
                  <a:pt x="1226459" y="0"/>
                </a:lnTo>
                <a:lnTo>
                  <a:pt x="1226459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028700" y="4107844"/>
          <a:ext cx="13402862" cy="3080551"/>
        </p:xfrm>
        <a:graphic>
          <a:graphicData uri="http://schemas.openxmlformats.org/drawingml/2006/table">
            <a:tbl>
              <a:tblPr/>
              <a:tblGrid>
                <a:gridCol w="2792470"/>
                <a:gridCol w="2974415"/>
                <a:gridCol w="4870535"/>
                <a:gridCol w="2765442"/>
              </a:tblGrid>
              <a:tr h="10268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4"/>
                        </a:lnSpc>
                        <a:defRPr/>
                      </a:pPr>
                      <a:r>
                        <a:rPr lang="en-US" sz="2288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Chiến lược</a:t>
                      </a:r>
                      <a:endParaRPr lang="en-US" sz="1100"/>
                    </a:p>
                  </a:txBody>
                  <a:tcPr marL="217986" marR="217986" marT="217986" marB="217986" anchor="ctr">
                    <a:lnL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4"/>
                        </a:lnSpc>
                        <a:defRPr/>
                      </a:pPr>
                      <a:r>
                        <a:rPr lang="en-US" sz="2288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Thời gian (3×3)</a:t>
                      </a:r>
                      <a:endParaRPr lang="en-US" sz="1100"/>
                    </a:p>
                  </a:txBody>
                  <a:tcPr marL="217986" marR="217986" marT="217986" marB="217986" anchor="ctr">
                    <a:lnL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4"/>
                        </a:lnSpc>
                        <a:defRPr/>
                      </a:pPr>
                      <a:r>
                        <a:rPr lang="en-US" sz="2288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Số node duyệt (ước lượng)</a:t>
                      </a:r>
                      <a:endParaRPr lang="en-US" sz="1100"/>
                    </a:p>
                  </a:txBody>
                  <a:tcPr marL="217986" marR="217986" marT="217986" marB="217986" anchor="ctr">
                    <a:lnL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4"/>
                        </a:lnSpc>
                        <a:defRPr/>
                      </a:pPr>
                      <a:r>
                        <a:rPr lang="en-US" sz="2288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Hiệu quả</a:t>
                      </a:r>
                      <a:endParaRPr lang="en-US" sz="1100"/>
                    </a:p>
                  </a:txBody>
                  <a:tcPr marL="217986" marR="217986" marT="217986" marB="217986" anchor="ctr">
                    <a:lnL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8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4"/>
                        </a:lnSpc>
                        <a:defRPr/>
                      </a:pPr>
                      <a:r>
                        <a:rPr lang="en-US" sz="2288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Không sắp xếp</a:t>
                      </a:r>
                      <a:endParaRPr lang="en-US" sz="1100"/>
                    </a:p>
                  </a:txBody>
                  <a:tcPr marL="217986" marR="217986" marT="217986" marB="217986" anchor="ctr">
                    <a:lnL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4"/>
                        </a:lnSpc>
                        <a:defRPr/>
                      </a:pPr>
                      <a:r>
                        <a:rPr lang="en-US" sz="2288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~35s</a:t>
                      </a:r>
                      <a:endParaRPr lang="en-US" sz="1100"/>
                    </a:p>
                  </a:txBody>
                  <a:tcPr marL="217986" marR="217986" marT="217986" marB="217986" anchor="ctr">
                    <a:lnL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4"/>
                        </a:lnSpc>
                        <a:defRPr/>
                      </a:pPr>
                      <a:r>
                        <a:rPr lang="en-US" sz="2288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Rất lớn</a:t>
                      </a:r>
                      <a:endParaRPr lang="en-US" sz="1100"/>
                    </a:p>
                  </a:txBody>
                  <a:tcPr marL="217986" marR="217986" marT="217986" marB="217986" anchor="ctr">
                    <a:lnL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4"/>
                        </a:lnSpc>
                        <a:defRPr/>
                      </a:pPr>
                      <a:r>
                        <a:rPr lang="en-US" sz="2288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Chậm</a:t>
                      </a:r>
                      <a:endParaRPr lang="en-US" sz="1100"/>
                    </a:p>
                  </a:txBody>
                  <a:tcPr marL="217986" marR="217986" marT="217986" marB="217986" anchor="ctr">
                    <a:lnL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8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4"/>
                        </a:lnSpc>
                        <a:defRPr/>
                      </a:pPr>
                      <a:r>
                        <a:rPr lang="en-US" sz="2288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Có sắp xếp</a:t>
                      </a:r>
                      <a:endParaRPr lang="en-US" sz="1100"/>
                    </a:p>
                  </a:txBody>
                  <a:tcPr marL="217986" marR="217986" marT="217986" marB="217986" anchor="ctr">
                    <a:lnL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4"/>
                        </a:lnSpc>
                        <a:defRPr/>
                      </a:pPr>
                      <a:r>
                        <a:rPr lang="en-US" sz="2288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~24s</a:t>
                      </a:r>
                      <a:endParaRPr lang="en-US" sz="1100"/>
                    </a:p>
                  </a:txBody>
                  <a:tcPr marL="217986" marR="217986" marT="217986" marB="217986" anchor="ctr">
                    <a:lnL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4"/>
                        </a:lnSpc>
                        <a:defRPr/>
                      </a:pPr>
                      <a:r>
                        <a:rPr lang="en-US" sz="2288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Giảm đáng kể</a:t>
                      </a:r>
                      <a:endParaRPr lang="en-US" sz="1100"/>
                    </a:p>
                  </a:txBody>
                  <a:tcPr marL="217986" marR="217986" marT="217986" marB="217986" anchor="ctr">
                    <a:lnL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4"/>
                        </a:lnSpc>
                        <a:defRPr/>
                      </a:pPr>
                      <a:r>
                        <a:rPr lang="en-US" sz="2288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Nhanh hơn</a:t>
                      </a:r>
                      <a:endParaRPr lang="en-US" sz="1100"/>
                    </a:p>
                  </a:txBody>
                  <a:tcPr marL="217986" marR="217986" marT="217986" marB="217986" anchor="ctr">
                    <a:lnL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988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028700" y="895350"/>
            <a:ext cx="8953690" cy="168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50"/>
              </a:lnSpc>
              <a:spcBef>
                <a:spcPct val="0"/>
              </a:spcBef>
            </a:pPr>
            <a:r>
              <a:rPr lang="en-US" b="true" sz="5000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T</a:t>
            </a:r>
            <a:r>
              <a:rPr lang="en-US" b="true" sz="5000" strike="noStrike" u="non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ask 3 – Minimax Search with Alpha-Beta Pruning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527300"/>
            <a:ext cx="10381945" cy="1333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24"/>
              </a:lnSpc>
              <a:spcBef>
                <a:spcPct val="0"/>
              </a:spcBef>
            </a:pPr>
            <a:r>
              <a:rPr lang="en-US" b="true" sz="2517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Chiến lược sắp xếp lượ</a:t>
            </a:r>
            <a:r>
              <a:rPr lang="en-US" b="true" sz="2517" strike="noStrike" u="non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t đi (Move Ordering):</a:t>
            </a:r>
          </a:p>
          <a:p>
            <a:pPr algn="l" marL="543529" indent="-271765" lvl="1">
              <a:lnSpc>
                <a:spcPts val="3524"/>
              </a:lnSpc>
              <a:buFont typeface="Arial"/>
              <a:buChar char="•"/>
            </a:pPr>
            <a:r>
              <a:rPr lang="en-US" sz="2517" strike="noStrike" u="none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Ưu tiên</a:t>
            </a:r>
            <a:r>
              <a:rPr lang="en-US" sz="2517" strike="noStrike" u="none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các hành động tạo được nhiều box hơn trước khi gọi đệ quy.</a:t>
            </a:r>
          </a:p>
          <a:p>
            <a:pPr algn="l" marL="543529" indent="-271765" lvl="1">
              <a:lnSpc>
                <a:spcPts val="3524"/>
              </a:lnSpc>
              <a:buFont typeface="Arial"/>
              <a:buChar char="•"/>
            </a:pPr>
            <a:r>
              <a:rPr lang="en-US" sz="2517" strike="noStrike" u="none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Giúp tăng hiệu quả cắt tỉa Alpha-Beta.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215493"/>
            <a:ext cx="12308023" cy="2674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4"/>
              </a:lnSpc>
            </a:pPr>
            <a:r>
              <a:rPr lang="en-US" sz="2517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Kết quả thi đấu:</a:t>
            </a:r>
          </a:p>
          <a:p>
            <a:pPr algn="l" marL="543529" indent="-271765" lvl="1">
              <a:lnSpc>
                <a:spcPts val="3524"/>
              </a:lnSpc>
              <a:spcBef>
                <a:spcPct val="0"/>
              </a:spcBef>
              <a:buFont typeface="Arial"/>
              <a:buChar char="•"/>
            </a:pPr>
            <a:r>
              <a:rPr lang="en-US" sz="2517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Minimax (có sắp xếp) đấu Random </a:t>
            </a:r>
            <a:r>
              <a:rPr lang="en-US" sz="2517" strike="noStrike" u="none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trên bàn 3×3 (5 ván):</a:t>
            </a:r>
          </a:p>
          <a:p>
            <a:pPr algn="l" marL="543529" indent="-271765" lvl="1">
              <a:lnSpc>
                <a:spcPts val="3524"/>
              </a:lnSpc>
              <a:spcBef>
                <a:spcPct val="0"/>
              </a:spcBef>
              <a:buFont typeface="Arial"/>
              <a:buChar char="•"/>
            </a:pPr>
            <a:r>
              <a:rPr lang="en-US" sz="2517" strike="noStrike" u="none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Minimax thắng 5/5, Random thua hoàn toàn.</a:t>
            </a:r>
          </a:p>
          <a:p>
            <a:pPr algn="l" marL="0" indent="0" lvl="0">
              <a:lnSpc>
                <a:spcPts val="3524"/>
              </a:lnSpc>
              <a:spcBef>
                <a:spcPct val="0"/>
              </a:spcBef>
            </a:pPr>
            <a:r>
              <a:rPr lang="en-US" b="true" sz="2517" strike="noStrike" u="non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Kết luận:</a:t>
            </a:r>
          </a:p>
          <a:p>
            <a:pPr algn="l" marL="543529" indent="-271765" lvl="1">
              <a:lnSpc>
                <a:spcPts val="3524"/>
              </a:lnSpc>
              <a:buFont typeface="Arial"/>
              <a:buChar char="•"/>
            </a:pPr>
            <a:r>
              <a:rPr lang="en-US" sz="2517" strike="noStrike" u="none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Move Ordering cải</a:t>
            </a:r>
            <a:r>
              <a:rPr lang="en-US" sz="2517" strike="noStrike" u="none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thiện rõ tốc độ.</a:t>
            </a:r>
          </a:p>
          <a:p>
            <a:pPr algn="l" marL="543529" indent="-271765" lvl="1">
              <a:lnSpc>
                <a:spcPts val="3524"/>
              </a:lnSpc>
              <a:buFont typeface="Arial"/>
              <a:buChar char="•"/>
            </a:pPr>
            <a:r>
              <a:rPr lang="en-US" sz="2517" strike="noStrike" u="none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Minimax có khả năng ra quyết định chính xác và vượt trội so với agent ngẫu nhiên.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7349"/>
            <a:ext cx="3176441" cy="10287000"/>
            <a:chOff x="0" y="0"/>
            <a:chExt cx="492114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2114" cy="1593725"/>
            </a:xfrm>
            <a:custGeom>
              <a:avLst/>
              <a:gdLst/>
              <a:ahLst/>
              <a:cxnLst/>
              <a:rect r="r" b="b" t="t" l="l"/>
              <a:pathLst>
                <a:path h="1593725" w="492114">
                  <a:moveTo>
                    <a:pt x="0" y="0"/>
                  </a:moveTo>
                  <a:lnTo>
                    <a:pt x="492114" y="0"/>
                  </a:lnTo>
                  <a:lnTo>
                    <a:pt x="49211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508174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243241" y="-2438922"/>
            <a:ext cx="3691868" cy="3691868"/>
          </a:xfrm>
          <a:custGeom>
            <a:avLst/>
            <a:gdLst/>
            <a:ahLst/>
            <a:cxnLst/>
            <a:rect r="r" b="b" t="t" l="l"/>
            <a:pathLst>
              <a:path h="3691868" w="3691868">
                <a:moveTo>
                  <a:pt x="0" y="0"/>
                </a:moveTo>
                <a:lnTo>
                  <a:pt x="3691868" y="0"/>
                </a:lnTo>
                <a:lnTo>
                  <a:pt x="3691868" y="3691868"/>
                </a:lnTo>
                <a:lnTo>
                  <a:pt x="0" y="36918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4233854" y="3116304"/>
          <a:ext cx="11072921" cy="3829050"/>
        </p:xfrm>
        <a:graphic>
          <a:graphicData uri="http://schemas.openxmlformats.org/drawingml/2006/table">
            <a:tbl>
              <a:tblPr/>
              <a:tblGrid>
                <a:gridCol w="3772433"/>
                <a:gridCol w="7300488"/>
              </a:tblGrid>
              <a:tr h="7792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Thành phần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Mô tả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912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Heuristic Evaluation Function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 +1 điểm cho mỗi ô thuộc người chơi.</a:t>
                      </a:r>
                      <a:endParaRPr lang="en-US" sz="1100"/>
                    </a:p>
                    <a:p>
                      <a:pPr algn="l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 -1 điểm cho mỗi ô thuộc đối thủ.</a:t>
                      </a:r>
                    </a:p>
                    <a:p>
                      <a:pPr algn="l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 +0.3 điểm cho ô có 3 cạnh (gần hoàn thành).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92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Cải tiến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Khi đạt độ sâu cutoff → dừng tìm kiếm, thay vì duyệt hết cây.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92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Thử nghiệm (cutoff = 3)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Đo thời gian &amp; số node với kích thước bàn tăng dần.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4233854" y="7097754"/>
          <a:ext cx="7315200" cy="3095625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10318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Board Size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Nodes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Time (s)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18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4×4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1,147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0.026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18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5×5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2,416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0.057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9001909" y="205966"/>
            <a:ext cx="8257391" cy="2620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603"/>
              </a:lnSpc>
              <a:spcBef>
                <a:spcPct val="0"/>
              </a:spcBef>
            </a:pPr>
            <a:r>
              <a:rPr lang="en-US" b="true" sz="5199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T</a:t>
            </a:r>
            <a:r>
              <a:rPr lang="en-US" b="true" sz="5199" strike="noStrike" u="non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ask 4: Heuristic Alpha-Beta Tree Search</a:t>
            </a:r>
          </a:p>
          <a:p>
            <a:pPr algn="r" marL="0" indent="0" lvl="0">
              <a:lnSpc>
                <a:spcPts val="6603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233854" y="1719939"/>
            <a:ext cx="12388148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Mục tiêu: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Xây dựng thuật toán Minimax có cắt tỉa Alpha-Beta với giới hạn độ sâu (cutoff) và hàm heuristic đánh giá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01343" y="7210186"/>
            <a:ext cx="4830046" cy="2721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Nhận xét:</a:t>
            </a:r>
          </a:p>
          <a:p>
            <a:pPr algn="l" marL="518160" indent="-259080" lvl="1">
              <a:lnSpc>
                <a:spcPts val="3048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Khi kích thước bàn tăng, số node và thời gian tăng gần gấp đôi.</a:t>
            </a:r>
          </a:p>
          <a:p>
            <a:pPr algn="l" marL="518160" indent="-259080" lvl="1">
              <a:lnSpc>
                <a:spcPts val="3048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Heuristic giúp đánh giá nhanh trạng thái khi không thể duyệt hết cây.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7349"/>
            <a:ext cx="3176441" cy="10287000"/>
            <a:chOff x="0" y="0"/>
            <a:chExt cx="492114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2114" cy="1593725"/>
            </a:xfrm>
            <a:custGeom>
              <a:avLst/>
              <a:gdLst/>
              <a:ahLst/>
              <a:cxnLst/>
              <a:rect r="r" b="b" t="t" l="l"/>
              <a:pathLst>
                <a:path h="1593725" w="492114">
                  <a:moveTo>
                    <a:pt x="0" y="0"/>
                  </a:moveTo>
                  <a:lnTo>
                    <a:pt x="492114" y="0"/>
                  </a:lnTo>
                  <a:lnTo>
                    <a:pt x="49211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508174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243241" y="-2438922"/>
            <a:ext cx="3691868" cy="3691868"/>
          </a:xfrm>
          <a:custGeom>
            <a:avLst/>
            <a:gdLst/>
            <a:ahLst/>
            <a:cxnLst/>
            <a:rect r="r" b="b" t="t" l="l"/>
            <a:pathLst>
              <a:path h="3691868" w="3691868">
                <a:moveTo>
                  <a:pt x="0" y="0"/>
                </a:moveTo>
                <a:lnTo>
                  <a:pt x="3691868" y="0"/>
                </a:lnTo>
                <a:lnTo>
                  <a:pt x="3691868" y="3691868"/>
                </a:lnTo>
                <a:lnTo>
                  <a:pt x="0" y="36918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001909" y="205966"/>
            <a:ext cx="8257391" cy="2620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603"/>
              </a:lnSpc>
              <a:spcBef>
                <a:spcPct val="0"/>
              </a:spcBef>
            </a:pPr>
            <a:r>
              <a:rPr lang="en-US" b="true" sz="5199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T</a:t>
            </a:r>
            <a:r>
              <a:rPr lang="en-US" b="true" sz="5199" strike="noStrike" u="non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ask 4: Heuristic Alpha-Beta Tree Search</a:t>
            </a:r>
          </a:p>
          <a:p>
            <a:pPr algn="r" marL="0" indent="0" lvl="0">
              <a:lnSpc>
                <a:spcPts val="6603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181179" y="2122927"/>
            <a:ext cx="13078121" cy="7556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sz="309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Thiết lập thử nghiệm:</a:t>
            </a:r>
          </a:p>
          <a:p>
            <a:pPr algn="just" marL="669250" indent="-33462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2</a:t>
            </a:r>
            <a:r>
              <a:rPr lang="en-US" sz="30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agent đều dùng Alpha-Beta + Heuristic, khác nhau ở cutoff depth và hàm heuristic.</a:t>
            </a:r>
          </a:p>
          <a:p>
            <a:pPr algn="just" marL="669250" indent="-33462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Player 1: cutoff = 3, heuristic cơ bản.</a:t>
            </a:r>
          </a:p>
          <a:p>
            <a:pPr algn="just" marL="669250" indent="-33462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Player 2: cutoff = 5, heuristic “tham lam” (ưu tiên ô có 3 cạnh mạnh hơn).</a:t>
            </a:r>
          </a:p>
          <a:p>
            <a:pPr algn="just">
              <a:lnSpc>
                <a:spcPts val="4339"/>
              </a:lnSpc>
            </a:pPr>
            <a:r>
              <a:rPr lang="en-US" sz="309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Kết quả thi đấu (4×4):</a:t>
            </a:r>
          </a:p>
          <a:p>
            <a:pPr algn="just" marL="669250" indent="-33462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Trò chơi kết thúc sau 24 lượt.</a:t>
            </a:r>
          </a:p>
          <a:p>
            <a:pPr algn="just" marL="669250" indent="-33462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Final utility = +5 → Player 1 thắng.</a:t>
            </a:r>
          </a:p>
          <a:p>
            <a:pPr algn="just">
              <a:lnSpc>
                <a:spcPts val="4339"/>
              </a:lnSpc>
            </a:pPr>
            <a:r>
              <a:rPr lang="en-US" sz="309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Nhận xét:</a:t>
            </a:r>
          </a:p>
          <a:p>
            <a:pPr algn="just" marL="669250" indent="-33462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Heuristic cơ bản giúp ra quyết định ổn định hơn khi cutoff nhỏ.</a:t>
            </a:r>
          </a:p>
          <a:p>
            <a:pPr algn="just" marL="669250" indent="-33462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Cutoff sâu hơn chưa chắc tốt nếu heuristic quá “tham lam”.</a:t>
            </a:r>
          </a:p>
          <a:p>
            <a:pPr algn="just" marL="669250" indent="-33462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Kết hợp cutoff và heuristic hợp lý → giảm thời gian, vẫn đảm bảo chất lượng nước đi.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34028" y="6733028"/>
            <a:ext cx="5050544" cy="5050544"/>
          </a:xfrm>
          <a:custGeom>
            <a:avLst/>
            <a:gdLst/>
            <a:ahLst/>
            <a:cxnLst/>
            <a:rect r="r" b="b" t="t" l="l"/>
            <a:pathLst>
              <a:path h="5050544" w="5050544">
                <a:moveTo>
                  <a:pt x="0" y="0"/>
                </a:moveTo>
                <a:lnTo>
                  <a:pt x="5050544" y="0"/>
                </a:lnTo>
                <a:lnTo>
                  <a:pt x="5050544" y="5050544"/>
                </a:lnTo>
                <a:lnTo>
                  <a:pt x="0" y="5050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4392170"/>
            <a:ext cx="5650143" cy="5894830"/>
            <a:chOff x="0" y="0"/>
            <a:chExt cx="1488104" cy="15525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88104" cy="1552548"/>
            </a:xfrm>
            <a:custGeom>
              <a:avLst/>
              <a:gdLst/>
              <a:ahLst/>
              <a:cxnLst/>
              <a:rect r="r" b="b" t="t" l="l"/>
              <a:pathLst>
                <a:path h="1552548" w="1488104">
                  <a:moveTo>
                    <a:pt x="0" y="0"/>
                  </a:moveTo>
                  <a:lnTo>
                    <a:pt x="1488104" y="0"/>
                  </a:lnTo>
                  <a:lnTo>
                    <a:pt x="1488104" y="1552548"/>
                  </a:lnTo>
                  <a:lnTo>
                    <a:pt x="0" y="1552548"/>
                  </a:lnTo>
                  <a:close/>
                </a:path>
              </a:pathLst>
            </a:custGeom>
            <a:solidFill>
              <a:srgbClr val="E1ED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488104" cy="160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1689442"/>
            <a:ext cx="5650143" cy="565014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77392">
              <a:off x="-4950" y="-4950"/>
              <a:ext cx="822699" cy="822699"/>
            </a:xfrm>
            <a:custGeom>
              <a:avLst/>
              <a:gdLst/>
              <a:ahLst/>
              <a:cxnLst/>
              <a:rect r="r" b="b" t="t" l="l"/>
              <a:pathLst>
                <a:path h="822699" w="822699">
                  <a:moveTo>
                    <a:pt x="402202" y="5053"/>
                  </a:moveTo>
                  <a:cubicBezTo>
                    <a:pt x="177810" y="10105"/>
                    <a:pt x="0" y="196107"/>
                    <a:pt x="5053" y="420498"/>
                  </a:cubicBezTo>
                  <a:cubicBezTo>
                    <a:pt x="10105" y="644890"/>
                    <a:pt x="196107" y="822700"/>
                    <a:pt x="420498" y="817647"/>
                  </a:cubicBezTo>
                  <a:cubicBezTo>
                    <a:pt x="644890" y="812595"/>
                    <a:pt x="822700" y="626593"/>
                    <a:pt x="817647" y="402202"/>
                  </a:cubicBezTo>
                  <a:cubicBezTo>
                    <a:pt x="812595" y="177810"/>
                    <a:pt x="626593" y="0"/>
                    <a:pt x="402202" y="5053"/>
                  </a:cubicBezTo>
                  <a:close/>
                </a:path>
              </a:pathLst>
            </a:custGeom>
            <a:blipFill>
              <a:blip r:embed="rId4"/>
              <a:stretch>
                <a:fillRect l="-48066" t="-12382" r="-41702" b="-2994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648406" y="1028700"/>
            <a:ext cx="1858734" cy="185873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277754" y="1509529"/>
            <a:ext cx="600038" cy="897076"/>
          </a:xfrm>
          <a:custGeom>
            <a:avLst/>
            <a:gdLst/>
            <a:ahLst/>
            <a:cxnLst/>
            <a:rect r="r" b="b" t="t" l="l"/>
            <a:pathLst>
              <a:path h="897076" w="600038">
                <a:moveTo>
                  <a:pt x="0" y="0"/>
                </a:moveTo>
                <a:lnTo>
                  <a:pt x="600038" y="0"/>
                </a:lnTo>
                <a:lnTo>
                  <a:pt x="600038" y="897076"/>
                </a:lnTo>
                <a:lnTo>
                  <a:pt x="0" y="8970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558327" y="7453986"/>
            <a:ext cx="2763919" cy="882511"/>
          </a:xfrm>
          <a:custGeom>
            <a:avLst/>
            <a:gdLst/>
            <a:ahLst/>
            <a:cxnLst/>
            <a:rect r="r" b="b" t="t" l="l"/>
            <a:pathLst>
              <a:path h="882511" w="2763919">
                <a:moveTo>
                  <a:pt x="0" y="0"/>
                </a:moveTo>
                <a:lnTo>
                  <a:pt x="2763918" y="0"/>
                </a:lnTo>
                <a:lnTo>
                  <a:pt x="2763918" y="882511"/>
                </a:lnTo>
                <a:lnTo>
                  <a:pt x="0" y="8825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731524" y="7665975"/>
            <a:ext cx="1483489" cy="458533"/>
          </a:xfrm>
          <a:custGeom>
            <a:avLst/>
            <a:gdLst/>
            <a:ahLst/>
            <a:cxnLst/>
            <a:rect r="r" b="b" t="t" l="l"/>
            <a:pathLst>
              <a:path h="458533" w="1483489">
                <a:moveTo>
                  <a:pt x="0" y="0"/>
                </a:moveTo>
                <a:lnTo>
                  <a:pt x="1483490" y="0"/>
                </a:lnTo>
                <a:lnTo>
                  <a:pt x="1483490" y="458533"/>
                </a:lnTo>
                <a:lnTo>
                  <a:pt x="0" y="4585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529751" y="3555682"/>
            <a:ext cx="7883851" cy="300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19"/>
              </a:lnSpc>
            </a:pPr>
            <a:r>
              <a:rPr lang="en-US" sz="5999" b="tru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Adversarial Search: Playing "Mean" Connect 4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6264511" y="5348601"/>
            <a:ext cx="1025128" cy="1025128"/>
          </a:xfrm>
          <a:custGeom>
            <a:avLst/>
            <a:gdLst/>
            <a:ahLst/>
            <a:cxnLst/>
            <a:rect r="r" b="b" t="t" l="l"/>
            <a:pathLst>
              <a:path h="1025128" w="1025128">
                <a:moveTo>
                  <a:pt x="0" y="0"/>
                </a:moveTo>
                <a:lnTo>
                  <a:pt x="1025128" y="0"/>
                </a:lnTo>
                <a:lnTo>
                  <a:pt x="1025128" y="1025127"/>
                </a:lnTo>
                <a:lnTo>
                  <a:pt x="0" y="102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79142" y="770143"/>
            <a:ext cx="4829892" cy="5894830"/>
            <a:chOff x="0" y="0"/>
            <a:chExt cx="1272070" cy="1552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2070" cy="1552548"/>
            </a:xfrm>
            <a:custGeom>
              <a:avLst/>
              <a:gdLst/>
              <a:ahLst/>
              <a:cxnLst/>
              <a:rect r="r" b="b" t="t" l="l"/>
              <a:pathLst>
                <a:path h="1552548" w="1272070">
                  <a:moveTo>
                    <a:pt x="94572" y="0"/>
                  </a:moveTo>
                  <a:lnTo>
                    <a:pt x="1177498" y="0"/>
                  </a:lnTo>
                  <a:cubicBezTo>
                    <a:pt x="1229729" y="0"/>
                    <a:pt x="1272070" y="42341"/>
                    <a:pt x="1272070" y="94572"/>
                  </a:cubicBezTo>
                  <a:lnTo>
                    <a:pt x="1272070" y="1457976"/>
                  </a:lnTo>
                  <a:cubicBezTo>
                    <a:pt x="1272070" y="1483058"/>
                    <a:pt x="1262106" y="1507113"/>
                    <a:pt x="1244371" y="1524848"/>
                  </a:cubicBezTo>
                  <a:cubicBezTo>
                    <a:pt x="1226635" y="1542584"/>
                    <a:pt x="1202580" y="1552548"/>
                    <a:pt x="1177498" y="1552548"/>
                  </a:cubicBezTo>
                  <a:lnTo>
                    <a:pt x="94572" y="1552548"/>
                  </a:lnTo>
                  <a:cubicBezTo>
                    <a:pt x="69490" y="1552548"/>
                    <a:pt x="45435" y="1542584"/>
                    <a:pt x="27700" y="1524848"/>
                  </a:cubicBezTo>
                  <a:cubicBezTo>
                    <a:pt x="9964" y="1507113"/>
                    <a:pt x="0" y="1483058"/>
                    <a:pt x="0" y="1457976"/>
                  </a:cubicBezTo>
                  <a:lnTo>
                    <a:pt x="0" y="94572"/>
                  </a:lnTo>
                  <a:cubicBezTo>
                    <a:pt x="0" y="69490"/>
                    <a:pt x="9964" y="45435"/>
                    <a:pt x="27700" y="27700"/>
                  </a:cubicBezTo>
                  <a:cubicBezTo>
                    <a:pt x="45435" y="9964"/>
                    <a:pt x="69490" y="0"/>
                    <a:pt x="94572" y="0"/>
                  </a:cubicBezTo>
                  <a:close/>
                </a:path>
              </a:pathLst>
            </a:custGeom>
            <a:solidFill>
              <a:srgbClr val="E1EDF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272070" cy="160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309697" y="-984912"/>
            <a:ext cx="8730068" cy="3510110"/>
            <a:chOff x="0" y="0"/>
            <a:chExt cx="1352516" cy="5438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52516" cy="543808"/>
            </a:xfrm>
            <a:custGeom>
              <a:avLst/>
              <a:gdLst/>
              <a:ahLst/>
              <a:cxnLst/>
              <a:rect r="r" b="b" t="t" l="l"/>
              <a:pathLst>
                <a:path h="543808" w="1352516">
                  <a:moveTo>
                    <a:pt x="14189" y="0"/>
                  </a:moveTo>
                  <a:lnTo>
                    <a:pt x="1338327" y="0"/>
                  </a:lnTo>
                  <a:cubicBezTo>
                    <a:pt x="1346163" y="0"/>
                    <a:pt x="1352516" y="6353"/>
                    <a:pt x="1352516" y="14189"/>
                  </a:cubicBezTo>
                  <a:lnTo>
                    <a:pt x="1352516" y="529619"/>
                  </a:lnTo>
                  <a:cubicBezTo>
                    <a:pt x="1352516" y="537455"/>
                    <a:pt x="1346163" y="543808"/>
                    <a:pt x="1338327" y="543808"/>
                  </a:cubicBezTo>
                  <a:lnTo>
                    <a:pt x="14189" y="543808"/>
                  </a:lnTo>
                  <a:cubicBezTo>
                    <a:pt x="6353" y="543808"/>
                    <a:pt x="0" y="537455"/>
                    <a:pt x="0" y="529619"/>
                  </a:cubicBezTo>
                  <a:lnTo>
                    <a:pt x="0" y="14189"/>
                  </a:lnTo>
                  <a:cubicBezTo>
                    <a:pt x="0" y="6353"/>
                    <a:pt x="6353" y="0"/>
                    <a:pt x="14189" y="0"/>
                  </a:cubicBezTo>
                  <a:close/>
                </a:path>
              </a:pathLst>
            </a:custGeom>
            <a:blipFill>
              <a:blip r:embed="rId2"/>
              <a:stretch>
                <a:fillRect l="-3932" t="-47325" r="-12690" b="-47011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6779142" y="8935522"/>
            <a:ext cx="960315" cy="960315"/>
          </a:xfrm>
          <a:custGeom>
            <a:avLst/>
            <a:gdLst/>
            <a:ahLst/>
            <a:cxnLst/>
            <a:rect r="r" b="b" t="t" l="l"/>
            <a:pathLst>
              <a:path h="960315" w="960315">
                <a:moveTo>
                  <a:pt x="0" y="0"/>
                </a:moveTo>
                <a:lnTo>
                  <a:pt x="960316" y="0"/>
                </a:lnTo>
                <a:lnTo>
                  <a:pt x="960316" y="960315"/>
                </a:lnTo>
                <a:lnTo>
                  <a:pt x="0" y="9603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028700" y="1944578"/>
          <a:ext cx="13042215" cy="8001000"/>
        </p:xfrm>
        <a:graphic>
          <a:graphicData uri="http://schemas.openxmlformats.org/drawingml/2006/table">
            <a:tbl>
              <a:tblPr/>
              <a:tblGrid>
                <a:gridCol w="2718019"/>
                <a:gridCol w="10324196"/>
              </a:tblGrid>
              <a:tr h="8422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Thành phần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Mô tả ngắn gọn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33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Initial State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Bàn cờ 7 cột × 6 hàng, ban đầu trống hoàn toàn. </a:t>
                      </a:r>
                      <a:endParaRPr lang="en-US" sz="1100"/>
                    </a:p>
                    <a:p>
                      <a:pPr algn="just">
                        <a:lnSpc>
                          <a:spcPts val="3360"/>
                        </a:lnSpc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Người chơi: MAX (1) và MIN (-1).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33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Actions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① Đặt quân vào cột chưa đầy (rơi xuống thấp nhất). </a:t>
                      </a:r>
                      <a:endParaRPr lang="en-US" sz="1100"/>
                    </a:p>
                    <a:p>
                      <a:pPr algn="l">
                        <a:lnSpc>
                          <a:spcPts val="3360"/>
                        </a:lnSpc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② “Mean move”: lấy quân đối thủ ở hàng dưới cùng và đặt vào cột khác.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44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Transition 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Khi thực hiện hành động → tạo trạng thái bàn mới. </a:t>
                      </a:r>
                      <a:endParaRPr lang="en-US" sz="1100"/>
                    </a:p>
                    <a:p>
                      <a:pPr algn="l">
                        <a:lnSpc>
                          <a:spcPts val="3360"/>
                        </a:lnSpc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 Nếu thả quân: quân rơi xuống vị trí thấp nhất. </a:t>
                      </a:r>
                    </a:p>
                    <a:p>
                      <a:pPr algn="l">
                        <a:lnSpc>
                          <a:spcPts val="3360"/>
                        </a:lnSpc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 Nếu lấy quân đối thủ: quân đó bị gỡ, các quân phía trên rơi xuống.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33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Terminal 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 Có 4 quân liên tiếp cùng màu (ngang/dọc/chéo) → thắng.</a:t>
                      </a:r>
                      <a:endParaRPr lang="en-US" sz="1100"/>
                    </a:p>
                    <a:p>
                      <a:pPr algn="l">
                        <a:lnSpc>
                          <a:spcPts val="3360"/>
                        </a:lnSpc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 Bàn đầy mà chưa ai thắng → hòa.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44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Utility Function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MAX thắng → +1 </a:t>
                      </a:r>
                      <a:endParaRPr lang="en-US" sz="1100"/>
                    </a:p>
                    <a:p>
                      <a:pPr algn="l">
                        <a:lnSpc>
                          <a:spcPts val="3360"/>
                        </a:lnSpc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MIN thắng → -1</a:t>
                      </a:r>
                    </a:p>
                    <a:p>
                      <a:pPr algn="l">
                        <a:lnSpc>
                          <a:spcPts val="3360"/>
                        </a:lnSpc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Hòa → 0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028700" y="904875"/>
            <a:ext cx="11002566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5"/>
              </a:lnSpc>
            </a:pPr>
            <a:r>
              <a:rPr lang="en-US" sz="4500" b="tru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Task 1 – Defining the Search Problem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79142" y="770143"/>
            <a:ext cx="4829892" cy="5894830"/>
            <a:chOff x="0" y="0"/>
            <a:chExt cx="1272070" cy="1552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2070" cy="1552548"/>
            </a:xfrm>
            <a:custGeom>
              <a:avLst/>
              <a:gdLst/>
              <a:ahLst/>
              <a:cxnLst/>
              <a:rect r="r" b="b" t="t" l="l"/>
              <a:pathLst>
                <a:path h="1552548" w="1272070">
                  <a:moveTo>
                    <a:pt x="94572" y="0"/>
                  </a:moveTo>
                  <a:lnTo>
                    <a:pt x="1177498" y="0"/>
                  </a:lnTo>
                  <a:cubicBezTo>
                    <a:pt x="1229729" y="0"/>
                    <a:pt x="1272070" y="42341"/>
                    <a:pt x="1272070" y="94572"/>
                  </a:cubicBezTo>
                  <a:lnTo>
                    <a:pt x="1272070" y="1457976"/>
                  </a:lnTo>
                  <a:cubicBezTo>
                    <a:pt x="1272070" y="1483058"/>
                    <a:pt x="1262106" y="1507113"/>
                    <a:pt x="1244371" y="1524848"/>
                  </a:cubicBezTo>
                  <a:cubicBezTo>
                    <a:pt x="1226635" y="1542584"/>
                    <a:pt x="1202580" y="1552548"/>
                    <a:pt x="1177498" y="1552548"/>
                  </a:cubicBezTo>
                  <a:lnTo>
                    <a:pt x="94572" y="1552548"/>
                  </a:lnTo>
                  <a:cubicBezTo>
                    <a:pt x="69490" y="1552548"/>
                    <a:pt x="45435" y="1542584"/>
                    <a:pt x="27700" y="1524848"/>
                  </a:cubicBezTo>
                  <a:cubicBezTo>
                    <a:pt x="9964" y="1507113"/>
                    <a:pt x="0" y="1483058"/>
                    <a:pt x="0" y="1457976"/>
                  </a:cubicBezTo>
                  <a:lnTo>
                    <a:pt x="0" y="94572"/>
                  </a:lnTo>
                  <a:cubicBezTo>
                    <a:pt x="0" y="69490"/>
                    <a:pt x="9964" y="45435"/>
                    <a:pt x="27700" y="27700"/>
                  </a:cubicBezTo>
                  <a:cubicBezTo>
                    <a:pt x="45435" y="9964"/>
                    <a:pt x="69490" y="0"/>
                    <a:pt x="94572" y="0"/>
                  </a:cubicBezTo>
                  <a:close/>
                </a:path>
              </a:pathLst>
            </a:custGeom>
            <a:solidFill>
              <a:srgbClr val="E1EDF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272070" cy="160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309697" y="-984912"/>
            <a:ext cx="8730068" cy="3510110"/>
            <a:chOff x="0" y="0"/>
            <a:chExt cx="1352516" cy="5438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52516" cy="543808"/>
            </a:xfrm>
            <a:custGeom>
              <a:avLst/>
              <a:gdLst/>
              <a:ahLst/>
              <a:cxnLst/>
              <a:rect r="r" b="b" t="t" l="l"/>
              <a:pathLst>
                <a:path h="543808" w="1352516">
                  <a:moveTo>
                    <a:pt x="14189" y="0"/>
                  </a:moveTo>
                  <a:lnTo>
                    <a:pt x="1338327" y="0"/>
                  </a:lnTo>
                  <a:cubicBezTo>
                    <a:pt x="1346163" y="0"/>
                    <a:pt x="1352516" y="6353"/>
                    <a:pt x="1352516" y="14189"/>
                  </a:cubicBezTo>
                  <a:lnTo>
                    <a:pt x="1352516" y="529619"/>
                  </a:lnTo>
                  <a:cubicBezTo>
                    <a:pt x="1352516" y="537455"/>
                    <a:pt x="1346163" y="543808"/>
                    <a:pt x="1338327" y="543808"/>
                  </a:cubicBezTo>
                  <a:lnTo>
                    <a:pt x="14189" y="543808"/>
                  </a:lnTo>
                  <a:cubicBezTo>
                    <a:pt x="6353" y="543808"/>
                    <a:pt x="0" y="537455"/>
                    <a:pt x="0" y="529619"/>
                  </a:cubicBezTo>
                  <a:lnTo>
                    <a:pt x="0" y="14189"/>
                  </a:lnTo>
                  <a:cubicBezTo>
                    <a:pt x="0" y="6353"/>
                    <a:pt x="6353" y="0"/>
                    <a:pt x="14189" y="0"/>
                  </a:cubicBezTo>
                  <a:close/>
                </a:path>
              </a:pathLst>
            </a:custGeom>
            <a:blipFill>
              <a:blip r:embed="rId2"/>
              <a:stretch>
                <a:fillRect l="-3932" t="-47325" r="-12690" b="-47011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6779142" y="8935522"/>
            <a:ext cx="960315" cy="960315"/>
          </a:xfrm>
          <a:custGeom>
            <a:avLst/>
            <a:gdLst/>
            <a:ahLst/>
            <a:cxnLst/>
            <a:rect r="r" b="b" t="t" l="l"/>
            <a:pathLst>
              <a:path h="960315" w="960315">
                <a:moveTo>
                  <a:pt x="0" y="0"/>
                </a:moveTo>
                <a:lnTo>
                  <a:pt x="960316" y="0"/>
                </a:lnTo>
                <a:lnTo>
                  <a:pt x="960316" y="960315"/>
                </a:lnTo>
                <a:lnTo>
                  <a:pt x="0" y="9603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518560" y="4820722"/>
          <a:ext cx="6970568" cy="4114800"/>
        </p:xfrm>
        <a:graphic>
          <a:graphicData uri="http://schemas.openxmlformats.org/drawingml/2006/table">
            <a:tbl>
              <a:tblPr/>
              <a:tblGrid>
                <a:gridCol w="2691017"/>
                <a:gridCol w="4279551"/>
              </a:tblGrid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Tham số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Ước lượng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Branching factor (b)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≈ 10 (7 nước + mean move)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Depth (d)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≈ 20–30 (đến khi thắng hoặc hòa)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Số nút (≈ b^d)**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≈ 10²⁰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028700" y="904875"/>
            <a:ext cx="11002566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5"/>
              </a:lnSpc>
            </a:pPr>
            <a:r>
              <a:rPr lang="en-US" sz="4500" b="tru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Task 1 – Defining the Search Problem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037474"/>
            <a:ext cx="10423259" cy="2701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1"/>
              </a:lnSpc>
              <a:spcBef>
                <a:spcPct val="0"/>
              </a:spcBef>
            </a:pPr>
            <a:r>
              <a:rPr lang="en-US" b="true" sz="2796">
                <a:solidFill>
                  <a:srgbClr val="0E2F5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State Space (Không gian trạng thái)</a:t>
            </a:r>
          </a:p>
          <a:p>
            <a:pPr algn="l" marL="603762" indent="-301881" lvl="1">
              <a:lnSpc>
                <a:spcPts val="3551"/>
              </a:lnSpc>
              <a:buFont typeface="Arial"/>
              <a:buChar char="•"/>
            </a:pPr>
            <a:r>
              <a:rPr lang="en-US" sz="2796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Bàn 6×7 = 42 ô.</a:t>
            </a:r>
          </a:p>
          <a:p>
            <a:pPr algn="l" marL="603762" indent="-301881" lvl="1">
              <a:lnSpc>
                <a:spcPts val="3551"/>
              </a:lnSpc>
              <a:buFont typeface="Arial"/>
              <a:buChar char="•"/>
            </a:pPr>
            <a:r>
              <a:rPr lang="en-US" sz="2796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Mỗi ô: {0: trống, 1: MAX, -1: MIN}.</a:t>
            </a:r>
          </a:p>
          <a:p>
            <a:pPr algn="l" marL="603762" indent="-301881" lvl="1">
              <a:lnSpc>
                <a:spcPts val="3551"/>
              </a:lnSpc>
              <a:buFont typeface="Arial"/>
              <a:buChar char="•"/>
            </a:pPr>
            <a:r>
              <a:rPr lang="en-US" sz="2796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Tổng hợp lý thuyết: 3⁴² ≈ 10²⁰, nhưng do luật rơi → giảm xuống.</a:t>
            </a:r>
          </a:p>
          <a:p>
            <a:pPr algn="l">
              <a:lnSpc>
                <a:spcPts val="3551"/>
              </a:lnSpc>
              <a:spcBef>
                <a:spcPct val="0"/>
              </a:spcBef>
            </a:pPr>
            <a:r>
              <a:rPr lang="en-US" sz="2796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-&gt;Ước lượng thực tế: khoảng 10¹⁶ – 10¹⁸ trạng thái.</a:t>
            </a:r>
          </a:p>
          <a:p>
            <a:pPr algn="l">
              <a:lnSpc>
                <a:spcPts val="3551"/>
              </a:lnSpc>
              <a:spcBef>
                <a:spcPct val="0"/>
              </a:spcBef>
            </a:pPr>
            <a:r>
              <a:rPr lang="en-US" b="true" sz="2796">
                <a:solidFill>
                  <a:srgbClr val="0E2F5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Game Tree (Cây trò chơi)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08248" y="4734997"/>
            <a:ext cx="6051775" cy="2746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1"/>
              </a:lnSpc>
            </a:pPr>
            <a:r>
              <a:rPr lang="en-US" sz="2796" b="true">
                <a:solidFill>
                  <a:srgbClr val="0E2F5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Kết luận:</a:t>
            </a:r>
          </a:p>
          <a:p>
            <a:pPr algn="l" marL="603762" indent="-301881" lvl="1">
              <a:lnSpc>
                <a:spcPts val="3551"/>
              </a:lnSpc>
              <a:buFont typeface="Arial"/>
              <a:buChar char="•"/>
            </a:pPr>
            <a:r>
              <a:rPr lang="en-US" sz="2796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Trò chơi có s</a:t>
            </a:r>
            <a:r>
              <a:rPr lang="en-US" sz="2796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tate space và game tree cực</a:t>
            </a:r>
            <a:r>
              <a:rPr lang="en-US" sz="2796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lớn → Minimax duyệt toàn bộ là không khả thi.</a:t>
            </a:r>
          </a:p>
          <a:p>
            <a:pPr algn="l" marL="603762" indent="-301881" lvl="1">
              <a:lnSpc>
                <a:spcPts val="3551"/>
              </a:lnSpc>
              <a:spcBef>
                <a:spcPct val="0"/>
              </a:spcBef>
              <a:buFont typeface="Arial"/>
              <a:buChar char="•"/>
            </a:pPr>
            <a:r>
              <a:rPr lang="en-US" sz="2796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Cần cutoff depth + heuristic để giảm độ</a:t>
            </a:r>
            <a:r>
              <a:rPr lang="en-US" sz="2796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phức tạp khi tìm kiếm.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94817" y="2782372"/>
            <a:ext cx="3353620" cy="5894830"/>
            <a:chOff x="0" y="0"/>
            <a:chExt cx="883258" cy="1552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3258" cy="1552548"/>
            </a:xfrm>
            <a:custGeom>
              <a:avLst/>
              <a:gdLst/>
              <a:ahLst/>
              <a:cxnLst/>
              <a:rect r="r" b="b" t="t" l="l"/>
              <a:pathLst>
                <a:path h="1552548" w="883258">
                  <a:moveTo>
                    <a:pt x="136203" y="0"/>
                  </a:moveTo>
                  <a:lnTo>
                    <a:pt x="747055" y="0"/>
                  </a:lnTo>
                  <a:cubicBezTo>
                    <a:pt x="822278" y="0"/>
                    <a:pt x="883258" y="60980"/>
                    <a:pt x="883258" y="136203"/>
                  </a:cubicBezTo>
                  <a:lnTo>
                    <a:pt x="883258" y="1416345"/>
                  </a:lnTo>
                  <a:cubicBezTo>
                    <a:pt x="883258" y="1452468"/>
                    <a:pt x="868908" y="1487112"/>
                    <a:pt x="843365" y="1512655"/>
                  </a:cubicBezTo>
                  <a:cubicBezTo>
                    <a:pt x="817822" y="1538198"/>
                    <a:pt x="783178" y="1552548"/>
                    <a:pt x="747055" y="1552548"/>
                  </a:cubicBezTo>
                  <a:lnTo>
                    <a:pt x="136203" y="1552548"/>
                  </a:lnTo>
                  <a:cubicBezTo>
                    <a:pt x="100080" y="1552548"/>
                    <a:pt x="65436" y="1538198"/>
                    <a:pt x="39893" y="1512655"/>
                  </a:cubicBezTo>
                  <a:cubicBezTo>
                    <a:pt x="14350" y="1487112"/>
                    <a:pt x="0" y="1452468"/>
                    <a:pt x="0" y="1416345"/>
                  </a:cubicBezTo>
                  <a:lnTo>
                    <a:pt x="0" y="136203"/>
                  </a:lnTo>
                  <a:cubicBezTo>
                    <a:pt x="0" y="100080"/>
                    <a:pt x="14350" y="65436"/>
                    <a:pt x="39893" y="39893"/>
                  </a:cubicBezTo>
                  <a:cubicBezTo>
                    <a:pt x="65436" y="14350"/>
                    <a:pt x="100080" y="0"/>
                    <a:pt x="136203" y="0"/>
                  </a:cubicBezTo>
                  <a:close/>
                </a:path>
              </a:pathLst>
            </a:custGeom>
            <a:solidFill>
              <a:srgbClr val="E1ED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83258" cy="160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31036" y="876300"/>
            <a:ext cx="15728264" cy="1782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603"/>
              </a:lnSpc>
              <a:spcBef>
                <a:spcPct val="0"/>
              </a:spcBef>
            </a:pPr>
            <a:r>
              <a:rPr lang="en-US" b="true" sz="5199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T</a:t>
            </a:r>
            <a:r>
              <a:rPr lang="en-US" b="true" sz="5199" strike="noStrike" u="non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ask 2: Game Environment and Random Agent</a:t>
            </a:r>
          </a:p>
          <a:p>
            <a:pPr algn="r" marL="0" indent="0" lvl="0">
              <a:lnSpc>
                <a:spcPts val="6603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044420" y="-2663168"/>
            <a:ext cx="3691868" cy="3691868"/>
          </a:xfrm>
          <a:custGeom>
            <a:avLst/>
            <a:gdLst/>
            <a:ahLst/>
            <a:cxnLst/>
            <a:rect r="r" b="b" t="t" l="l"/>
            <a:pathLst>
              <a:path h="3691868" w="3691868">
                <a:moveTo>
                  <a:pt x="0" y="0"/>
                </a:moveTo>
                <a:lnTo>
                  <a:pt x="3691867" y="0"/>
                </a:lnTo>
                <a:lnTo>
                  <a:pt x="3691867" y="3691868"/>
                </a:lnTo>
                <a:lnTo>
                  <a:pt x="0" y="3691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5065" y="381223"/>
            <a:ext cx="647477" cy="647477"/>
          </a:xfrm>
          <a:custGeom>
            <a:avLst/>
            <a:gdLst/>
            <a:ahLst/>
            <a:cxnLst/>
            <a:rect r="r" b="b" t="t" l="l"/>
            <a:pathLst>
              <a:path h="647477" w="647477">
                <a:moveTo>
                  <a:pt x="0" y="0"/>
                </a:moveTo>
                <a:lnTo>
                  <a:pt x="647476" y="0"/>
                </a:lnTo>
                <a:lnTo>
                  <a:pt x="647476" y="647477"/>
                </a:lnTo>
                <a:lnTo>
                  <a:pt x="0" y="6474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4044420" y="2581775"/>
          <a:ext cx="12514119" cy="6534150"/>
        </p:xfrm>
        <a:graphic>
          <a:graphicData uri="http://schemas.openxmlformats.org/drawingml/2006/table">
            <a:tbl>
              <a:tblPr/>
              <a:tblGrid>
                <a:gridCol w="2832787"/>
                <a:gridCol w="9681332"/>
              </a:tblGrid>
              <a:tr h="10251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Nội dung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Mô tả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1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Mục tiêu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Tạo môi trường Connect-4 (6x7) cho hai người chơi (Max = 1, Min = -1).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354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Thành phần chính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 Board: ma trận NumPy lưu trạng thái bàn cờ.   </a:t>
                      </a:r>
                      <a:endParaRPr lang="en-US" sz="1100"/>
                    </a:p>
                    <a:p>
                      <a:pPr algn="l">
                        <a:lnSpc>
                          <a:spcPts val="3220"/>
                        </a:lnSpc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 Transition model: xác định kết quả sau khi thực hiện hành động.   </a:t>
                      </a:r>
                    </a:p>
                    <a:p>
                      <a:pPr algn="l">
                        <a:lnSpc>
                          <a:spcPts val="3220"/>
                        </a:lnSpc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 Utility function: trả về +1, -1 hoặc 0 tùy kết quả thắng/thua/hòa.   </a:t>
                      </a:r>
                    </a:p>
                    <a:p>
                      <a:pPr algn="l">
                        <a:lnSpc>
                          <a:spcPts val="3220"/>
                        </a:lnSpc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 Terminal check: xác định khi trò chơi kết thúc.   </a:t>
                      </a:r>
                    </a:p>
                    <a:p>
                      <a:pPr algn="l">
                        <a:lnSpc>
                          <a:spcPts val="3220"/>
                        </a:lnSpc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 Available actions: liệt kê các nước đi hợp lệ.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1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Hiển thị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Dùng matplotlib để trực quan hóa bàn cờ.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1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Đặc điểm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Mỗi hàm hỗ trợ kích thước bảng khác nhau (tùy biến theo hàng/cột).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94817" y="2782372"/>
            <a:ext cx="3353620" cy="5894830"/>
            <a:chOff x="0" y="0"/>
            <a:chExt cx="883258" cy="1552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3258" cy="1552548"/>
            </a:xfrm>
            <a:custGeom>
              <a:avLst/>
              <a:gdLst/>
              <a:ahLst/>
              <a:cxnLst/>
              <a:rect r="r" b="b" t="t" l="l"/>
              <a:pathLst>
                <a:path h="1552548" w="883258">
                  <a:moveTo>
                    <a:pt x="136203" y="0"/>
                  </a:moveTo>
                  <a:lnTo>
                    <a:pt x="747055" y="0"/>
                  </a:lnTo>
                  <a:cubicBezTo>
                    <a:pt x="822278" y="0"/>
                    <a:pt x="883258" y="60980"/>
                    <a:pt x="883258" y="136203"/>
                  </a:cubicBezTo>
                  <a:lnTo>
                    <a:pt x="883258" y="1416345"/>
                  </a:lnTo>
                  <a:cubicBezTo>
                    <a:pt x="883258" y="1452468"/>
                    <a:pt x="868908" y="1487112"/>
                    <a:pt x="843365" y="1512655"/>
                  </a:cubicBezTo>
                  <a:cubicBezTo>
                    <a:pt x="817822" y="1538198"/>
                    <a:pt x="783178" y="1552548"/>
                    <a:pt x="747055" y="1552548"/>
                  </a:cubicBezTo>
                  <a:lnTo>
                    <a:pt x="136203" y="1552548"/>
                  </a:lnTo>
                  <a:cubicBezTo>
                    <a:pt x="100080" y="1552548"/>
                    <a:pt x="65436" y="1538198"/>
                    <a:pt x="39893" y="1512655"/>
                  </a:cubicBezTo>
                  <a:cubicBezTo>
                    <a:pt x="14350" y="1487112"/>
                    <a:pt x="0" y="1452468"/>
                    <a:pt x="0" y="1416345"/>
                  </a:cubicBezTo>
                  <a:lnTo>
                    <a:pt x="0" y="136203"/>
                  </a:lnTo>
                  <a:cubicBezTo>
                    <a:pt x="0" y="100080"/>
                    <a:pt x="14350" y="65436"/>
                    <a:pt x="39893" y="39893"/>
                  </a:cubicBezTo>
                  <a:cubicBezTo>
                    <a:pt x="65436" y="14350"/>
                    <a:pt x="100080" y="0"/>
                    <a:pt x="136203" y="0"/>
                  </a:cubicBezTo>
                  <a:close/>
                </a:path>
              </a:pathLst>
            </a:custGeom>
            <a:solidFill>
              <a:srgbClr val="E1ED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83258" cy="160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31036" y="876300"/>
            <a:ext cx="15728264" cy="1782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603"/>
              </a:lnSpc>
              <a:spcBef>
                <a:spcPct val="0"/>
              </a:spcBef>
            </a:pPr>
            <a:r>
              <a:rPr lang="en-US" b="true" sz="5199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T</a:t>
            </a:r>
            <a:r>
              <a:rPr lang="en-US" b="true" sz="5199" strike="noStrike" u="non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ask 2: Game Environment and Random Agent</a:t>
            </a:r>
          </a:p>
          <a:p>
            <a:pPr algn="r" marL="0" indent="0" lvl="0">
              <a:lnSpc>
                <a:spcPts val="6603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044420" y="-2663168"/>
            <a:ext cx="3691868" cy="3691868"/>
          </a:xfrm>
          <a:custGeom>
            <a:avLst/>
            <a:gdLst/>
            <a:ahLst/>
            <a:cxnLst/>
            <a:rect r="r" b="b" t="t" l="l"/>
            <a:pathLst>
              <a:path h="3691868" w="3691868">
                <a:moveTo>
                  <a:pt x="0" y="0"/>
                </a:moveTo>
                <a:lnTo>
                  <a:pt x="3691867" y="0"/>
                </a:lnTo>
                <a:lnTo>
                  <a:pt x="3691867" y="3691868"/>
                </a:lnTo>
                <a:lnTo>
                  <a:pt x="0" y="3691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5065" y="381223"/>
            <a:ext cx="647477" cy="647477"/>
          </a:xfrm>
          <a:custGeom>
            <a:avLst/>
            <a:gdLst/>
            <a:ahLst/>
            <a:cxnLst/>
            <a:rect r="r" b="b" t="t" l="l"/>
            <a:pathLst>
              <a:path h="647477" w="647477">
                <a:moveTo>
                  <a:pt x="0" y="0"/>
                </a:moveTo>
                <a:lnTo>
                  <a:pt x="647476" y="0"/>
                </a:lnTo>
                <a:lnTo>
                  <a:pt x="647476" y="647477"/>
                </a:lnTo>
                <a:lnTo>
                  <a:pt x="0" y="6474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5890353" y="3519704"/>
          <a:ext cx="7315200" cy="41148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Kết quả sau 1000 ván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Số trận thắng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Player Max (1)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756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Player Min (-1)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244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Hòa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3717611" y="2696647"/>
            <a:ext cx="9688982" cy="508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1"/>
              </a:lnSpc>
              <a:spcBef>
                <a:spcPct val="0"/>
              </a:spcBef>
            </a:pPr>
            <a:r>
              <a:rPr lang="en-US" b="true" sz="2796">
                <a:solidFill>
                  <a:srgbClr val="0E2F5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Mục </a:t>
            </a:r>
            <a:r>
              <a:rPr lang="en-US" b="true" sz="2796">
                <a:solidFill>
                  <a:srgbClr val="0E2F5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tiêu</a:t>
            </a:r>
            <a:r>
              <a:rPr lang="en-US" sz="2796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: Cho hai tác nhâ</a:t>
            </a:r>
            <a:r>
              <a:rPr lang="en-US" sz="2796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n ngẫu nhiên đấu</a:t>
            </a:r>
            <a:r>
              <a:rPr lang="en-US" sz="2796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với nhau 1000 ván.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17611" y="7863104"/>
            <a:ext cx="10929181" cy="1851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1"/>
              </a:lnSpc>
            </a:pPr>
            <a:r>
              <a:rPr lang="en-US" sz="2796" b="true">
                <a:solidFill>
                  <a:srgbClr val="0E2F5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Nhận xét:</a:t>
            </a:r>
          </a:p>
          <a:p>
            <a:pPr algn="l" marL="603762" indent="-301881" lvl="1">
              <a:lnSpc>
                <a:spcPts val="3551"/>
              </a:lnSpc>
              <a:spcBef>
                <a:spcPct val="0"/>
              </a:spcBef>
              <a:buFont typeface="Arial"/>
              <a:buChar char="•"/>
            </a:pPr>
            <a:r>
              <a:rPr lang="en-US" sz="2796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Kết quả không cân bằng, Player </a:t>
            </a:r>
            <a:r>
              <a:rPr lang="en-US" sz="2796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Max có lợ</a:t>
            </a:r>
            <a:r>
              <a:rPr lang="en-US" sz="2796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i thế khi đi trước.</a:t>
            </a:r>
          </a:p>
          <a:p>
            <a:pPr algn="l" marL="603762" indent="-301881" lvl="1">
              <a:lnSpc>
                <a:spcPts val="3551"/>
              </a:lnSpc>
              <a:buFont typeface="Arial"/>
              <a:buChar char="•"/>
            </a:pPr>
            <a:r>
              <a:rPr lang="en-US" sz="2796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Không có yếu tố chiế</a:t>
            </a:r>
            <a:r>
              <a:rPr lang="en-US" sz="2796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n lược, nên sự khác biệt đến từ thứ tự lượt đi.</a:t>
            </a:r>
          </a:p>
          <a:p>
            <a:pPr algn="l" marL="603762" indent="-301881" lvl="1">
              <a:lnSpc>
                <a:spcPts val="3551"/>
              </a:lnSpc>
              <a:spcBef>
                <a:spcPct val="0"/>
              </a:spcBef>
              <a:buFont typeface="Arial"/>
              <a:buChar char="•"/>
            </a:pPr>
            <a:r>
              <a:rPr lang="en-US" sz="2796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Kết quả phù hợp kỳ</a:t>
            </a:r>
            <a:r>
              <a:rPr lang="en-US" sz="2796">
                <a:solidFill>
                  <a:srgbClr val="0E2F5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vọng vì tác nhân chỉ chọn nước đi ngẫu nhiên.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67814" y="-1205189"/>
            <a:ext cx="3691868" cy="3691868"/>
          </a:xfrm>
          <a:custGeom>
            <a:avLst/>
            <a:gdLst/>
            <a:ahLst/>
            <a:cxnLst/>
            <a:rect r="r" b="b" t="t" l="l"/>
            <a:pathLst>
              <a:path h="3691868" w="3691868">
                <a:moveTo>
                  <a:pt x="0" y="0"/>
                </a:moveTo>
                <a:lnTo>
                  <a:pt x="3691867" y="0"/>
                </a:lnTo>
                <a:lnTo>
                  <a:pt x="3691867" y="3691868"/>
                </a:lnTo>
                <a:lnTo>
                  <a:pt x="0" y="3691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384203" y="0"/>
            <a:ext cx="3903797" cy="10287000"/>
            <a:chOff x="0" y="0"/>
            <a:chExt cx="604800" cy="15937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4800" cy="1593725"/>
            </a:xfrm>
            <a:custGeom>
              <a:avLst/>
              <a:gdLst/>
              <a:ahLst/>
              <a:cxnLst/>
              <a:rect r="r" b="b" t="t" l="l"/>
              <a:pathLst>
                <a:path h="1593725" w="604800">
                  <a:moveTo>
                    <a:pt x="0" y="0"/>
                  </a:moveTo>
                  <a:lnTo>
                    <a:pt x="604800" y="0"/>
                  </a:lnTo>
                  <a:lnTo>
                    <a:pt x="60480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4"/>
              <a:stretch>
                <a:fillRect l="-336648" t="0" r="-5821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574039" y="1028700"/>
            <a:ext cx="1226460" cy="379088"/>
          </a:xfrm>
          <a:custGeom>
            <a:avLst/>
            <a:gdLst/>
            <a:ahLst/>
            <a:cxnLst/>
            <a:rect r="r" b="b" t="t" l="l"/>
            <a:pathLst>
              <a:path h="379088" w="1226460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281843" y="2721467"/>
          <a:ext cx="13777791" cy="7381875"/>
        </p:xfrm>
        <a:graphic>
          <a:graphicData uri="http://schemas.openxmlformats.org/drawingml/2006/table">
            <a:tbl>
              <a:tblPr/>
              <a:tblGrid>
                <a:gridCol w="5183270"/>
                <a:gridCol w="8594521"/>
              </a:tblGrid>
              <a:tr h="10244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Nội dung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Mô tả ngắn gọn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97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Mục tiêu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Xây dựng tác nhân sử dụng thuật toán Minimax kết hợp Alpha-Beta Pruning để ra quyết định tối ưu trong trò chơi Connect-4.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840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Cơ chế hoạt động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 Duyệt toàn bộ cây trò chơi theo lượt của Max/Min.</a:t>
                      </a:r>
                      <a:endParaRPr lang="en-US" sz="1100"/>
                    </a:p>
                    <a:p>
                      <a:pPr algn="l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 Sử dụng cắt tỉa Alpha-Beta để bỏ qua các nhánh không cần thiết.</a:t>
                      </a:r>
                    </a:p>
                    <a:p>
                      <a:pPr algn="l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 Giới hạn độ sâu tìm kiếm (Depth Limit) để giảm thời gian xử lý.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840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Kết quả kiểm thử (5 bàn cờ thủ công)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 Phát hiện chính xác các cơ hội thắng theo hàng, cột, đường chéo.</a:t>
                      </a:r>
                      <a:endParaRPr lang="en-US" sz="1100"/>
                    </a:p>
                    <a:p>
                      <a:pPr algn="l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 Nhận biết và chặn nước thắng của đối thủ.</a:t>
                      </a:r>
                    </a:p>
                    <a:p>
                      <a:pPr algn="l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 Xử lý đúng cả nước đi đặc biệt (mean move).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97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Hiệu suất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 Duyệt ~700–5200 nút tùy tình huống.</a:t>
                      </a:r>
                      <a:endParaRPr lang="en-US" sz="1100"/>
                    </a:p>
                    <a:p>
                      <a:pPr algn="l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- Mất ~30–140 ms cho các bàn 4–7 cột.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97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Kết luận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Minimax với Alpha-Beta Pruning ra quyết định hợp lý, nhưng hiệu suất giảm mạnh khi bàn cờ lớn.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028700" y="895350"/>
            <a:ext cx="9545339" cy="168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50"/>
              </a:lnSpc>
              <a:spcBef>
                <a:spcPct val="0"/>
              </a:spcBef>
            </a:pPr>
            <a:r>
              <a:rPr lang="en-US" b="true" sz="5000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Task 3: Mi</a:t>
            </a:r>
            <a:r>
              <a:rPr lang="en-US" b="true" sz="5000" strike="noStrike" u="non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nimax Search with Alpha-Beta Pruning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67814" y="-1205189"/>
            <a:ext cx="3691868" cy="3691868"/>
          </a:xfrm>
          <a:custGeom>
            <a:avLst/>
            <a:gdLst/>
            <a:ahLst/>
            <a:cxnLst/>
            <a:rect r="r" b="b" t="t" l="l"/>
            <a:pathLst>
              <a:path h="3691868" w="3691868">
                <a:moveTo>
                  <a:pt x="0" y="0"/>
                </a:moveTo>
                <a:lnTo>
                  <a:pt x="3691867" y="0"/>
                </a:lnTo>
                <a:lnTo>
                  <a:pt x="3691867" y="3691868"/>
                </a:lnTo>
                <a:lnTo>
                  <a:pt x="0" y="3691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384203" y="0"/>
            <a:ext cx="3903797" cy="10287000"/>
            <a:chOff x="0" y="0"/>
            <a:chExt cx="604800" cy="15937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4800" cy="1593725"/>
            </a:xfrm>
            <a:custGeom>
              <a:avLst/>
              <a:gdLst/>
              <a:ahLst/>
              <a:cxnLst/>
              <a:rect r="r" b="b" t="t" l="l"/>
              <a:pathLst>
                <a:path h="1593725" w="604800">
                  <a:moveTo>
                    <a:pt x="0" y="0"/>
                  </a:moveTo>
                  <a:lnTo>
                    <a:pt x="604800" y="0"/>
                  </a:lnTo>
                  <a:lnTo>
                    <a:pt x="60480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4"/>
              <a:stretch>
                <a:fillRect l="-336648" t="0" r="-5821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574039" y="1028700"/>
            <a:ext cx="1226460" cy="379088"/>
          </a:xfrm>
          <a:custGeom>
            <a:avLst/>
            <a:gdLst/>
            <a:ahLst/>
            <a:cxnLst/>
            <a:rect r="r" b="b" t="t" l="l"/>
            <a:pathLst>
              <a:path h="379088" w="1226460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28700" y="3156231"/>
          <a:ext cx="11845961" cy="5133975"/>
        </p:xfrm>
        <a:graphic>
          <a:graphicData uri="http://schemas.openxmlformats.org/drawingml/2006/table">
            <a:tbl>
              <a:tblPr/>
              <a:tblGrid>
                <a:gridCol w="2694608"/>
                <a:gridCol w="9151353"/>
              </a:tblGrid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Kỹ thuật cải tiến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Ý nghĩa &amp; Ảnh hưởng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Move Ordering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Sắp xếp nước đi theo vị trí trung tâm → cắt tỉa nhanh hơn, giảm số nút duyệt.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Depth Limit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Giới hạn độ sâu giúp rút ngắn thời gian tính toán, vẫn giữ độ chính xác tốt.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Heuristic Evaluation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Ưu tiên nước đi gần trung tâm và chuỗi 2–3 quân liên tiếp.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Iterative Deepening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Tăng dần độ sâu theo thời gian cho phép → đảm bảo nước đi hợp lý.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028700" y="895350"/>
            <a:ext cx="9545339" cy="168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50"/>
              </a:lnSpc>
              <a:spcBef>
                <a:spcPct val="0"/>
              </a:spcBef>
            </a:pPr>
            <a:r>
              <a:rPr lang="en-US" b="true" sz="5000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Task 3: Mi</a:t>
            </a:r>
            <a:r>
              <a:rPr lang="en-US" b="true" sz="5000" strike="noStrike" u="non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nimax Search with Alpha-Beta Pruning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633753"/>
            <a:ext cx="9545339" cy="360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21"/>
              </a:lnSpc>
              <a:spcBef>
                <a:spcPct val="0"/>
              </a:spcBef>
            </a:pPr>
            <a:r>
              <a:rPr lang="en-US" b="true" sz="2300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 Cải tiế</a:t>
            </a:r>
            <a:r>
              <a:rPr lang="en-US" b="true" sz="2300" strike="noStrike" u="none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n &amp; Kết quả Thử Nghiệm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478647"/>
            <a:ext cx="12706134" cy="180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1"/>
              </a:lnSpc>
            </a:pPr>
            <a:r>
              <a:rPr lang="en-US" sz="2300" b="true">
                <a:solidFill>
                  <a:srgbClr val="0E2F5F"/>
                </a:solidFill>
                <a:latin typeface="Aileron Bold"/>
                <a:ea typeface="Aileron Bold"/>
                <a:cs typeface="Aileron Bold"/>
                <a:sym typeface="Aileron Bold"/>
              </a:rPr>
              <a:t>Thử nghiệm thực tế:</a:t>
            </a:r>
          </a:p>
          <a:p>
            <a:pPr algn="l" marL="496571" indent="-248285" lvl="1">
              <a:lnSpc>
                <a:spcPts val="2921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0E2F5F"/>
                </a:solidFill>
                <a:latin typeface="Aileron"/>
                <a:ea typeface="Aileron"/>
                <a:cs typeface="Aileron"/>
                <a:sym typeface="Aileron"/>
              </a:rPr>
              <a:t>Minimax đấu với Ra</a:t>
            </a:r>
            <a:r>
              <a:rPr lang="en-US" sz="2300" strike="noStrike" u="none">
                <a:solidFill>
                  <a:srgbClr val="0E2F5F"/>
                </a:solidFill>
                <a:latin typeface="Aileron"/>
                <a:ea typeface="Aileron"/>
                <a:cs typeface="Aileron"/>
                <a:sym typeface="Aileron"/>
              </a:rPr>
              <a:t>ndom Agent trên bàn nhỏ:</a:t>
            </a:r>
          </a:p>
          <a:p>
            <a:pPr algn="l" marL="496571" indent="-248285" lvl="1">
              <a:lnSpc>
                <a:spcPts val="2921"/>
              </a:lnSpc>
              <a:spcBef>
                <a:spcPct val="0"/>
              </a:spcBef>
              <a:buFont typeface="Arial"/>
              <a:buChar char="•"/>
            </a:pPr>
            <a:r>
              <a:rPr lang="en-US" sz="2300" strike="noStrike" u="none">
                <a:solidFill>
                  <a:srgbClr val="0E2F5F"/>
                </a:solidFill>
                <a:latin typeface="Aileron"/>
                <a:ea typeface="Aileron"/>
                <a:cs typeface="Aileron"/>
                <a:sym typeface="Aileron"/>
              </a:rPr>
              <a:t> → Kết quả: Minimax thắng 100% (1 thắng, 0 thua, 0 hòa).</a:t>
            </a:r>
          </a:p>
          <a:p>
            <a:pPr algn="l" marL="496571" indent="-248285" lvl="1">
              <a:lnSpc>
                <a:spcPts val="2921"/>
              </a:lnSpc>
              <a:spcBef>
                <a:spcPct val="0"/>
              </a:spcBef>
              <a:buFont typeface="Arial"/>
              <a:buChar char="•"/>
            </a:pPr>
            <a:r>
              <a:rPr lang="en-US" sz="2300" strike="noStrike" u="none">
                <a:solidFill>
                  <a:srgbClr val="0E2F5F"/>
                </a:solidFill>
                <a:latin typeface="Aileron"/>
                <a:ea typeface="Aileron"/>
                <a:cs typeface="Aileron"/>
                <a:sym typeface="Aileron"/>
              </a:rPr>
              <a:t>Nhận xét: Tác nhân Minimax thông minh hơn rõ rệt so với random nhờ có suy luận chiến lược.</a:t>
            </a:r>
          </a:p>
          <a:p>
            <a:pPr algn="l" marL="0" indent="0" lvl="0">
              <a:lnSpc>
                <a:spcPts val="292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7349"/>
            <a:ext cx="3176441" cy="10287000"/>
            <a:chOff x="0" y="0"/>
            <a:chExt cx="492114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2114" cy="1593725"/>
            </a:xfrm>
            <a:custGeom>
              <a:avLst/>
              <a:gdLst/>
              <a:ahLst/>
              <a:cxnLst/>
              <a:rect r="r" b="b" t="t" l="l"/>
              <a:pathLst>
                <a:path h="1593725" w="492114">
                  <a:moveTo>
                    <a:pt x="0" y="0"/>
                  </a:moveTo>
                  <a:lnTo>
                    <a:pt x="492114" y="0"/>
                  </a:lnTo>
                  <a:lnTo>
                    <a:pt x="49211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508174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243241" y="-1845934"/>
            <a:ext cx="3691868" cy="3691868"/>
          </a:xfrm>
          <a:custGeom>
            <a:avLst/>
            <a:gdLst/>
            <a:ahLst/>
            <a:cxnLst/>
            <a:rect r="r" b="b" t="t" l="l"/>
            <a:pathLst>
              <a:path h="3691868" w="3691868">
                <a:moveTo>
                  <a:pt x="0" y="0"/>
                </a:moveTo>
                <a:lnTo>
                  <a:pt x="3691868" y="0"/>
                </a:lnTo>
                <a:lnTo>
                  <a:pt x="3691868" y="3691868"/>
                </a:lnTo>
                <a:lnTo>
                  <a:pt x="0" y="36918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935109" y="876300"/>
            <a:ext cx="9324191" cy="1782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603"/>
              </a:lnSpc>
              <a:spcBef>
                <a:spcPct val="0"/>
              </a:spcBef>
            </a:pPr>
            <a:r>
              <a:rPr lang="en-US" b="true" sz="5199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Task 4: H</a:t>
            </a:r>
            <a:r>
              <a:rPr lang="en-US" b="true" sz="5199" strike="noStrike" u="non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euristic Alpha-Beta Tree Search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243241" y="2842975"/>
            <a:ext cx="12388148" cy="6924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3"/>
              </a:lnSpc>
            </a:pPr>
            <a:r>
              <a:rPr lang="en-US" sz="300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Mục tiêu:</a:t>
            </a:r>
          </a:p>
          <a:p>
            <a:pPr algn="l" marL="649808" indent="-324904" lvl="1">
              <a:lnSpc>
                <a:spcPts val="4213"/>
              </a:lnSpc>
              <a:buFont typeface="Arial"/>
              <a:buChar char="•"/>
            </a:pPr>
            <a:r>
              <a:rPr lang="en-US" sz="300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Cải tiến Minimax bằng Alpha-Beta Pruning và Heuristic Evaluation Function.</a:t>
            </a:r>
          </a:p>
          <a:p>
            <a:pPr algn="l" marL="649808" indent="-324904" lvl="1">
              <a:lnSpc>
                <a:spcPts val="4213"/>
              </a:lnSpc>
              <a:buFont typeface="Arial"/>
              <a:buChar char="•"/>
            </a:pPr>
            <a:r>
              <a:rPr lang="en-US" sz="300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Giới hạn độ sâu tìm kiếm để tăng tốc độ.</a:t>
            </a:r>
          </a:p>
          <a:p>
            <a:pPr algn="l">
              <a:lnSpc>
                <a:spcPts val="4213"/>
              </a:lnSpc>
            </a:pPr>
            <a:r>
              <a:rPr lang="en-US" sz="300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Heuristic Evaluation Function:</a:t>
            </a:r>
          </a:p>
          <a:p>
            <a:pPr algn="l" marL="649808" indent="-324904" lvl="1">
              <a:lnSpc>
                <a:spcPts val="4213"/>
              </a:lnSpc>
              <a:buFont typeface="Arial"/>
              <a:buChar char="•"/>
            </a:pPr>
            <a:r>
              <a:rPr lang="en-US" sz="300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Ưu tiên các nước đi ở giữa bàn cờ.</a:t>
            </a:r>
          </a:p>
          <a:p>
            <a:pPr algn="l" marL="649808" indent="-324904" lvl="1">
              <a:lnSpc>
                <a:spcPts val="4213"/>
              </a:lnSpc>
              <a:buFont typeface="Arial"/>
              <a:buChar char="•"/>
            </a:pPr>
            <a:r>
              <a:rPr lang="en-US" sz="300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Cộng điểm cho chuỗi 2–4 quân liên tiếp cùng phía, trừ điểm nếu đối thủ gần thắng.</a:t>
            </a:r>
          </a:p>
          <a:p>
            <a:pPr algn="l" marL="649808" indent="-324904" lvl="1">
              <a:lnSpc>
                <a:spcPts val="4213"/>
              </a:lnSpc>
              <a:buFont typeface="Arial"/>
              <a:buChar char="•"/>
            </a:pPr>
            <a:r>
              <a:rPr lang="en-US" sz="300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Giúp</a:t>
            </a:r>
            <a:r>
              <a:rPr lang="en-US" sz="300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đánh giá thế cờ khi chưa đạt trạng thái kết thúc.</a:t>
            </a:r>
          </a:p>
          <a:p>
            <a:pPr algn="l">
              <a:lnSpc>
                <a:spcPts val="4213"/>
              </a:lnSpc>
            </a:pPr>
            <a:r>
              <a:rPr lang="en-US" sz="300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Kết quả:</a:t>
            </a:r>
          </a:p>
          <a:p>
            <a:pPr algn="l" marL="649808" indent="-324904" lvl="1">
              <a:lnSpc>
                <a:spcPts val="4213"/>
              </a:lnSpc>
              <a:buFont typeface="Arial"/>
              <a:buChar char="•"/>
            </a:pPr>
            <a:r>
              <a:rPr lang="en-US" sz="300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Agent có thể nhận ra cơ hội thắng, chặn đối thủ, và chọn nước đi tối</a:t>
            </a:r>
            <a:r>
              <a:rPr lang="en-US" sz="300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ưu dù chưa duyệt toàn bộ cây.</a:t>
            </a:r>
          </a:p>
          <a:p>
            <a:pPr algn="l">
              <a:lnSpc>
                <a:spcPts val="4213"/>
              </a:lnSpc>
            </a:pP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7349"/>
            <a:ext cx="3176441" cy="10287000"/>
            <a:chOff x="0" y="0"/>
            <a:chExt cx="492114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2114" cy="1593725"/>
            </a:xfrm>
            <a:custGeom>
              <a:avLst/>
              <a:gdLst/>
              <a:ahLst/>
              <a:cxnLst/>
              <a:rect r="r" b="b" t="t" l="l"/>
              <a:pathLst>
                <a:path h="1593725" w="492114">
                  <a:moveTo>
                    <a:pt x="0" y="0"/>
                  </a:moveTo>
                  <a:lnTo>
                    <a:pt x="492114" y="0"/>
                  </a:lnTo>
                  <a:lnTo>
                    <a:pt x="49211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508174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243241" y="-1845934"/>
            <a:ext cx="3691868" cy="3691868"/>
          </a:xfrm>
          <a:custGeom>
            <a:avLst/>
            <a:gdLst/>
            <a:ahLst/>
            <a:cxnLst/>
            <a:rect r="r" b="b" t="t" l="l"/>
            <a:pathLst>
              <a:path h="3691868" w="3691868">
                <a:moveTo>
                  <a:pt x="0" y="0"/>
                </a:moveTo>
                <a:lnTo>
                  <a:pt x="3691868" y="0"/>
                </a:lnTo>
                <a:lnTo>
                  <a:pt x="3691868" y="3691868"/>
                </a:lnTo>
                <a:lnTo>
                  <a:pt x="0" y="36918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234515" y="2658872"/>
          <a:ext cx="7315200" cy="432435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10282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Tình huống kiểm thử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Kết quả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39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Hàng ngang, dọc, chéo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Phát hiện và chọn đúng nước thắng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2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Đối thủ sắp thắng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Biết chặn kịp thời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39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Nước đi “mean move”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Ưu tiên nước vừa tấn công vừa phòng thủ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7935109" y="876300"/>
            <a:ext cx="9324191" cy="1782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603"/>
              </a:lnSpc>
              <a:spcBef>
                <a:spcPct val="0"/>
              </a:spcBef>
            </a:pPr>
            <a:r>
              <a:rPr lang="en-US" b="true" sz="5199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Task 4: H</a:t>
            </a:r>
            <a:r>
              <a:rPr lang="en-US" b="true" sz="5199" strike="noStrike" u="none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euristic Alpha-Beta Tree Search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97933" y="2592197"/>
            <a:ext cx="12388148" cy="523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3"/>
              </a:lnSpc>
            </a:pPr>
            <a:r>
              <a:rPr lang="en-US" sz="300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Kết quả và Hiệ</a:t>
            </a:r>
            <a:r>
              <a:rPr lang="en-US" sz="300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u suất: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43241" y="5496173"/>
            <a:ext cx="14063889" cy="479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3"/>
              </a:lnSpc>
            </a:pPr>
            <a:r>
              <a:rPr lang="en-US" sz="300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Thời gian chạy:</a:t>
            </a:r>
          </a:p>
          <a:p>
            <a:pPr algn="l" marL="649808" indent="-324904" lvl="1">
              <a:lnSpc>
                <a:spcPts val="4213"/>
              </a:lnSpc>
              <a:buFont typeface="Arial"/>
              <a:buChar char="•"/>
            </a:pPr>
            <a:r>
              <a:rPr lang="en-US" sz="300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Bàn cờ 4 cột → ~8 ms</a:t>
            </a:r>
          </a:p>
          <a:p>
            <a:pPr algn="l" marL="649808" indent="-324904" lvl="1">
              <a:lnSpc>
                <a:spcPts val="4213"/>
              </a:lnSpc>
              <a:buFont typeface="Arial"/>
              <a:buChar char="•"/>
            </a:pPr>
            <a:r>
              <a:rPr lang="en-US" sz="300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Bàn cờ 7 cột → ~108 ms</a:t>
            </a:r>
          </a:p>
          <a:p>
            <a:pPr algn="l" marL="649808" indent="-324904" lvl="1">
              <a:lnSpc>
                <a:spcPts val="4213"/>
              </a:lnSpc>
              <a:buFont typeface="Arial"/>
              <a:buChar char="•"/>
            </a:pPr>
            <a:r>
              <a:rPr lang="en-US" sz="300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→ Thời gian tăng theo kích thước bàn cờ.</a:t>
            </a:r>
          </a:p>
          <a:p>
            <a:pPr algn="l">
              <a:lnSpc>
                <a:spcPts val="4213"/>
              </a:lnSpc>
            </a:pPr>
            <a:r>
              <a:rPr lang="en-US" sz="3009" b="true">
                <a:solidFill>
                  <a:srgbClr val="021828"/>
                </a:solidFill>
                <a:latin typeface="Aileron Bold"/>
                <a:ea typeface="Aileron Bold"/>
                <a:cs typeface="Aileron Bold"/>
                <a:sym typeface="Aileron Bold"/>
              </a:rPr>
              <a:t>Kết luận:</a:t>
            </a:r>
          </a:p>
          <a:p>
            <a:pPr algn="l" marL="649808" indent="-324904" lvl="1">
              <a:lnSpc>
                <a:spcPts val="4213"/>
              </a:lnSpc>
              <a:buFont typeface="Arial"/>
              <a:buChar char="•"/>
            </a:pPr>
            <a:r>
              <a:rPr lang="en-US" sz="300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Heuristic giúp ra quyết định nhanh và hợp lý.</a:t>
            </a:r>
          </a:p>
          <a:p>
            <a:pPr algn="l" marL="649808" indent="-324904" lvl="1">
              <a:lnSpc>
                <a:spcPts val="4213"/>
              </a:lnSpc>
              <a:buFont typeface="Arial"/>
              <a:buChar char="•"/>
            </a:pPr>
            <a:r>
              <a:rPr lang="en-US" sz="300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Alpha-Beta Cutoff giảm đáng kể</a:t>
            </a:r>
            <a:r>
              <a:rPr lang="en-US" sz="3009">
                <a:solidFill>
                  <a:srgbClr val="021828"/>
                </a:solidFill>
                <a:latin typeface="Aileron"/>
                <a:ea typeface="Aileron"/>
                <a:cs typeface="Aileron"/>
                <a:sym typeface="Aileron"/>
              </a:rPr>
              <a:t> số node duyệt mà vẫn đảm bảo chất lượng nước đi.</a:t>
            </a:r>
          </a:p>
          <a:p>
            <a:pPr algn="l">
              <a:lnSpc>
                <a:spcPts val="4213"/>
              </a:lnSpc>
            </a:pP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70689" y="3176727"/>
            <a:ext cx="9346622" cy="3896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58"/>
              </a:lnSpc>
            </a:pPr>
            <a:r>
              <a:rPr lang="en-US" b="true" sz="16848">
                <a:solidFill>
                  <a:srgbClr val="0E2F5F"/>
                </a:solidFill>
                <a:latin typeface="Barlow Condensed Heavy"/>
                <a:ea typeface="Barlow Condensed Heavy"/>
                <a:cs typeface="Barlow Condensed Heavy"/>
                <a:sym typeface="Barlow Condensed Heavy"/>
              </a:rPr>
              <a:t>THANK YOU!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511163" y="7791225"/>
            <a:ext cx="305535" cy="302202"/>
          </a:xfrm>
          <a:custGeom>
            <a:avLst/>
            <a:gdLst/>
            <a:ahLst/>
            <a:cxnLst/>
            <a:rect r="r" b="b" t="t" l="l"/>
            <a:pathLst>
              <a:path h="302202" w="305535">
                <a:moveTo>
                  <a:pt x="0" y="0"/>
                </a:moveTo>
                <a:lnTo>
                  <a:pt x="305535" y="0"/>
                </a:lnTo>
                <a:lnTo>
                  <a:pt x="305535" y="302203"/>
                </a:lnTo>
                <a:lnTo>
                  <a:pt x="0" y="302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424608" y="-1072654"/>
            <a:ext cx="11438784" cy="2839490"/>
            <a:chOff x="0" y="0"/>
            <a:chExt cx="3012684" cy="7478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12684" cy="747849"/>
            </a:xfrm>
            <a:custGeom>
              <a:avLst/>
              <a:gdLst/>
              <a:ahLst/>
              <a:cxnLst/>
              <a:rect r="r" b="b" t="t" l="l"/>
              <a:pathLst>
                <a:path h="747849" w="3012684">
                  <a:moveTo>
                    <a:pt x="39932" y="0"/>
                  </a:moveTo>
                  <a:lnTo>
                    <a:pt x="2972752" y="0"/>
                  </a:lnTo>
                  <a:cubicBezTo>
                    <a:pt x="2994806" y="0"/>
                    <a:pt x="3012684" y="17878"/>
                    <a:pt x="3012684" y="39932"/>
                  </a:cubicBezTo>
                  <a:lnTo>
                    <a:pt x="3012684" y="707917"/>
                  </a:lnTo>
                  <a:cubicBezTo>
                    <a:pt x="3012684" y="729971"/>
                    <a:pt x="2994806" y="747849"/>
                    <a:pt x="2972752" y="747849"/>
                  </a:cubicBezTo>
                  <a:lnTo>
                    <a:pt x="39932" y="747849"/>
                  </a:lnTo>
                  <a:cubicBezTo>
                    <a:pt x="17878" y="747849"/>
                    <a:pt x="0" y="729971"/>
                    <a:pt x="0" y="707917"/>
                  </a:cubicBezTo>
                  <a:lnTo>
                    <a:pt x="0" y="39932"/>
                  </a:lnTo>
                  <a:cubicBezTo>
                    <a:pt x="0" y="17878"/>
                    <a:pt x="17878" y="0"/>
                    <a:pt x="39932" y="0"/>
                  </a:cubicBezTo>
                  <a:close/>
                </a:path>
              </a:pathLst>
            </a:custGeom>
            <a:solidFill>
              <a:srgbClr val="E1ED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012684" cy="7954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395527" y="1028700"/>
            <a:ext cx="1496945" cy="149694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673581" y="1447879"/>
            <a:ext cx="940838" cy="658587"/>
          </a:xfrm>
          <a:custGeom>
            <a:avLst/>
            <a:gdLst/>
            <a:ahLst/>
            <a:cxnLst/>
            <a:rect r="r" b="b" t="t" l="l"/>
            <a:pathLst>
              <a:path h="658587" w="940838">
                <a:moveTo>
                  <a:pt x="0" y="0"/>
                </a:moveTo>
                <a:lnTo>
                  <a:pt x="940838" y="0"/>
                </a:lnTo>
                <a:lnTo>
                  <a:pt x="940838" y="658587"/>
                </a:lnTo>
                <a:lnTo>
                  <a:pt x="0" y="6585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424608" y="4750679"/>
            <a:ext cx="1519327" cy="469610"/>
          </a:xfrm>
          <a:custGeom>
            <a:avLst/>
            <a:gdLst/>
            <a:ahLst/>
            <a:cxnLst/>
            <a:rect r="r" b="b" t="t" l="l"/>
            <a:pathLst>
              <a:path h="469610" w="1519327">
                <a:moveTo>
                  <a:pt x="0" y="0"/>
                </a:moveTo>
                <a:lnTo>
                  <a:pt x="1519327" y="0"/>
                </a:lnTo>
                <a:lnTo>
                  <a:pt x="1519327" y="469610"/>
                </a:lnTo>
                <a:lnTo>
                  <a:pt x="0" y="4696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3344065" y="4750679"/>
            <a:ext cx="1519327" cy="469610"/>
          </a:xfrm>
          <a:custGeom>
            <a:avLst/>
            <a:gdLst/>
            <a:ahLst/>
            <a:cxnLst/>
            <a:rect r="r" b="b" t="t" l="l"/>
            <a:pathLst>
              <a:path h="469610" w="1519327">
                <a:moveTo>
                  <a:pt x="1519327" y="0"/>
                </a:moveTo>
                <a:lnTo>
                  <a:pt x="0" y="0"/>
                </a:lnTo>
                <a:lnTo>
                  <a:pt x="0" y="469610"/>
                </a:lnTo>
                <a:lnTo>
                  <a:pt x="1519327" y="469610"/>
                </a:lnTo>
                <a:lnTo>
                  <a:pt x="151932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0" y="8996715"/>
            <a:ext cx="18288000" cy="1290285"/>
            <a:chOff x="0" y="0"/>
            <a:chExt cx="4816593" cy="3398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16592" cy="339828"/>
            </a:xfrm>
            <a:custGeom>
              <a:avLst/>
              <a:gdLst/>
              <a:ahLst/>
              <a:cxnLst/>
              <a:rect r="r" b="b" t="t" l="l"/>
              <a:pathLst>
                <a:path h="33982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39828"/>
                  </a:lnTo>
                  <a:lnTo>
                    <a:pt x="0" y="339828"/>
                  </a:lnTo>
                  <a:close/>
                </a:path>
              </a:pathLst>
            </a:custGeom>
            <a:solidFill>
              <a:srgbClr val="0E2F5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816593" cy="387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DAG2zOS6jMA</dc:identifier>
  <dcterms:modified xsi:type="dcterms:W3CDTF">2011-08-01T06:04:30Z</dcterms:modified>
  <cp:revision>1</cp:revision>
  <dc:title>Lab_04: Games with search uncertainty</dc:title>
</cp:coreProperties>
</file>